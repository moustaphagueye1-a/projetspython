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bookmarkIdSeed="2">
  <p:sldMasterIdLst>
    <p:sldMasterId id="2147483679" r:id="rId4"/>
  </p:sldMasterIdLst>
  <p:notesMasterIdLst>
    <p:notesMasterId r:id="rId18"/>
  </p:notesMasterIdLst>
  <p:handoutMasterIdLst>
    <p:handoutMasterId r:id="rId19"/>
  </p:handoutMasterIdLst>
  <p:sldIdLst>
    <p:sldId id="256" r:id="rId5"/>
    <p:sldId id="277" r:id="rId6"/>
    <p:sldId id="318" r:id="rId7"/>
    <p:sldId id="317" r:id="rId8"/>
    <p:sldId id="306" r:id="rId9"/>
    <p:sldId id="309" r:id="rId10"/>
    <p:sldId id="302" r:id="rId11"/>
    <p:sldId id="310" r:id="rId12"/>
    <p:sldId id="304" r:id="rId13"/>
    <p:sldId id="319" r:id="rId14"/>
    <p:sldId id="315" r:id="rId15"/>
    <p:sldId id="307" r:id="rId16"/>
    <p:sldId id="26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6E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00" autoAdjust="0"/>
    <p:restoredTop sz="94660"/>
  </p:normalViewPr>
  <p:slideViewPr>
    <p:cSldViewPr snapToGrid="0" showGuides="1">
      <p:cViewPr varScale="1">
        <p:scale>
          <a:sx n="59" d="100"/>
          <a:sy n="59" d="100"/>
        </p:scale>
        <p:origin x="1152" y="48"/>
      </p:cViewPr>
      <p:guideLst>
        <p:guide orient="horz" pos="2160"/>
        <p:guide pos="3840"/>
      </p:guideLst>
    </p:cSldViewPr>
  </p:slideViewPr>
  <p:notesTextViewPr>
    <p:cViewPr>
      <p:scale>
        <a:sx n="1" d="1"/>
        <a:sy n="1" d="1"/>
      </p:scale>
      <p:origin x="0" y="0"/>
    </p:cViewPr>
  </p:notesTextViewPr>
  <p:notesViewPr>
    <p:cSldViewPr snapToGrid="0" showGuides="1">
      <p:cViewPr varScale="1">
        <p:scale>
          <a:sx n="90" d="100"/>
          <a:sy n="90" d="100"/>
        </p:scale>
        <p:origin x="377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fr-FR" dirty="0"/>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43DEC388-69C3-41CE-836D-8CADE66F758F}" type="datetime1">
              <a:rPr lang="fr-FR" smtClean="0"/>
              <a:pPr algn="r" rtl="0"/>
              <a:t>17/04/2026</a:t>
            </a:fld>
            <a:endParaRPr lang="fr-FR" dirty="0"/>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fr-FR" dirty="0"/>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a:fld id="{E31375A4-56A4-47D6-9801-1991572033F7}" type="slidenum">
              <a:rPr lang="fr-FR"/>
              <a:pPr algn="r"/>
              <a:t>‹N°›</a:t>
            </a:fld>
            <a:endParaRPr lang="fr-F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fr-FR" noProof="0"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3CF334A0-7817-44BF-BE74-0C1D60A40209}" type="datetime1">
              <a:rPr lang="fr-FR" smtClean="0"/>
              <a:pPr/>
              <a:t>17/04/2026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fr-FR" noProof="0"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E31375A4-56A4-47D6-9801-1991572033F7}" type="slidenum">
              <a:rPr lang="fr-FR"/>
              <a:pPr/>
              <a:t>1</a:t>
            </a:fld>
            <a:endParaRPr lang="fr-FR" dirty="0"/>
          </a:p>
        </p:txBody>
      </p:sp>
    </p:spTree>
    <p:extLst>
      <p:ext uri="{BB962C8B-B14F-4D97-AF65-F5344CB8AC3E}">
        <p14:creationId xmlns:p14="http://schemas.microsoft.com/office/powerpoint/2010/main" val="3585061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fr-FR"/>
              <a:t>Modifiez le style du titre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2A93682C-1666-439C-B1F6-2324BA8BDEE9}" type="datetime1">
              <a:rPr lang="fr-FR" smtClean="0"/>
              <a:pPr/>
              <a:t>17/04/2026</a:t>
            </a:fld>
            <a:endParaRPr lang="fr-FR" dirty="0"/>
          </a:p>
        </p:txBody>
      </p:sp>
      <p:sp>
        <p:nvSpPr>
          <p:cNvPr id="5" name="Footer Placeholder 4"/>
          <p:cNvSpPr>
            <a:spLocks noGrp="1"/>
          </p:cNvSpPr>
          <p:nvPr>
            <p:ph type="ftr" sz="quarter" idx="11"/>
          </p:nvPr>
        </p:nvSpPr>
        <p:spPr>
          <a:xfrm>
            <a:off x="2416500" y="329307"/>
            <a:ext cx="4973915" cy="309201"/>
          </a:xfrm>
        </p:spPr>
        <p:txBody>
          <a:bodyPr/>
          <a:lstStyle/>
          <a:p>
            <a:pPr rtl="0"/>
            <a:endParaRPr lang="fr-FR" noProof="0" dirty="0"/>
          </a:p>
        </p:txBody>
      </p:sp>
      <p:sp>
        <p:nvSpPr>
          <p:cNvPr id="6" name="Slide Number Placeholder 5"/>
          <p:cNvSpPr>
            <a:spLocks noGrp="1"/>
          </p:cNvSpPr>
          <p:nvPr>
            <p:ph type="sldNum" sz="quarter" idx="12"/>
          </p:nvPr>
        </p:nvSpPr>
        <p:spPr>
          <a:xfrm>
            <a:off x="1437664" y="798973"/>
            <a:ext cx="811019" cy="503578"/>
          </a:xfrm>
        </p:spPr>
        <p:txBody>
          <a:bodyPr/>
          <a:lstStyle/>
          <a:p>
            <a:fld id="{E31375A4-56A4-47D6-9801-1991572033F7}" type="slidenum">
              <a:rPr lang="fr-FR" smtClean="0"/>
              <a:pPr/>
              <a:t>‹N°›</a:t>
            </a:fld>
            <a:endParaRPr lang="fr-FR"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910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1DB54D6-28DC-40C0-8824-32CC37999B83}" type="datetime1">
              <a:rPr lang="fr-FR" smtClean="0"/>
              <a:pPr/>
              <a:t>17/04/2026</a:t>
            </a:fld>
            <a:endParaRPr lang="fr-FR" dirty="0"/>
          </a:p>
        </p:txBody>
      </p:sp>
      <p:sp>
        <p:nvSpPr>
          <p:cNvPr id="5" name="Footer Placeholder 4"/>
          <p:cNvSpPr>
            <a:spLocks noGrp="1"/>
          </p:cNvSpPr>
          <p:nvPr>
            <p:ph type="ftr" sz="quarter" idx="11"/>
          </p:nvPr>
        </p:nvSpPr>
        <p:spPr/>
        <p:txBody>
          <a:bodyPr/>
          <a:lstStyle/>
          <a:p>
            <a:pPr rtl="0"/>
            <a:endParaRPr lang="fr-FR" noProof="0" dirty="0"/>
          </a:p>
        </p:txBody>
      </p:sp>
      <p:sp>
        <p:nvSpPr>
          <p:cNvPr id="6" name="Slide Number Placeholder 5"/>
          <p:cNvSpPr>
            <a:spLocks noGrp="1"/>
          </p:cNvSpPr>
          <p:nvPr>
            <p:ph type="sldNum" sz="quarter" idx="12"/>
          </p:nvPr>
        </p:nvSpPr>
        <p:spPr/>
        <p:txBody>
          <a:bodyPr/>
          <a:lstStyle/>
          <a:p>
            <a:fld id="{E31375A4-56A4-47D6-9801-1991572033F7}" type="slidenum">
              <a:rPr lang="fr-FR" smtClean="0"/>
              <a:pPr/>
              <a:t>‹N°›</a:t>
            </a:fld>
            <a:endParaRPr lang="fr-FR"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8397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fr-FR"/>
              <a:t>Modifiez le style du titre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r>
              <a:rPr lang="fr-FR"/>
              <a:t>​</a:t>
            </a:r>
            <a:fld id="{FF5F1CE1-2D83-4710-B005-E03A94773F54}" type="datetime1">
              <a:rPr lang="fr-FR" smtClean="0"/>
              <a:pPr/>
              <a:t>17/04/2026</a:t>
            </a:fld>
            <a:r>
              <a:rPr lang="fr-FR"/>
              <a:t>​</a:t>
            </a:r>
            <a:endParaRPr lang="fr-FR" dirty="0"/>
          </a:p>
        </p:txBody>
      </p:sp>
      <p:sp>
        <p:nvSpPr>
          <p:cNvPr id="5" name="Footer Placeholder 4"/>
          <p:cNvSpPr>
            <a:spLocks noGrp="1"/>
          </p:cNvSpPr>
          <p:nvPr>
            <p:ph type="ftr" sz="quarter" idx="11"/>
          </p:nvPr>
        </p:nvSpPr>
        <p:spPr/>
        <p:txBody>
          <a:bodyPr/>
          <a:lstStyle/>
          <a:p>
            <a:pPr rtl="0"/>
            <a:endParaRPr lang="fr-FR" noProof="0" dirty="0"/>
          </a:p>
        </p:txBody>
      </p:sp>
      <p:sp>
        <p:nvSpPr>
          <p:cNvPr id="6" name="Slide Number Placeholder 5"/>
          <p:cNvSpPr>
            <a:spLocks noGrp="1"/>
          </p:cNvSpPr>
          <p:nvPr>
            <p:ph type="sldNum" sz="quarter" idx="12"/>
          </p:nvPr>
        </p:nvSpPr>
        <p:spPr/>
        <p:txBody>
          <a:bodyPr/>
          <a:lstStyle/>
          <a:p>
            <a:fld id="{E31375A4-56A4-47D6-9801-1991572033F7}" type="slidenum">
              <a:rPr lang="fr-FR" smtClean="0"/>
              <a:pPr/>
              <a:t>‹N°›</a:t>
            </a:fld>
            <a:endParaRPr lang="fr-FR"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49067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fr-FR"/>
              <a:t>Modifiez le style du titre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03CC60CA-F5F0-431E-AD16-DA84336EFE3A}" type="datetime1">
              <a:rPr lang="fr-FR" smtClean="0"/>
              <a:pPr/>
              <a:t>17/04/2026</a:t>
            </a:fld>
            <a:endParaRPr lang="fr-FR" dirty="0"/>
          </a:p>
        </p:txBody>
      </p:sp>
      <p:sp>
        <p:nvSpPr>
          <p:cNvPr id="6" name="Footer Placeholder 5"/>
          <p:cNvSpPr>
            <a:spLocks noGrp="1"/>
          </p:cNvSpPr>
          <p:nvPr>
            <p:ph type="ftr" sz="quarter" idx="11"/>
          </p:nvPr>
        </p:nvSpPr>
        <p:spPr/>
        <p:txBody>
          <a:bodyPr/>
          <a:lstStyle/>
          <a:p>
            <a:pPr rtl="0"/>
            <a:endParaRPr lang="fr-FR" noProof="0" dirty="0"/>
          </a:p>
        </p:txBody>
      </p:sp>
      <p:sp>
        <p:nvSpPr>
          <p:cNvPr id="7" name="Slide Number Placeholder 6"/>
          <p:cNvSpPr>
            <a:spLocks noGrp="1"/>
          </p:cNvSpPr>
          <p:nvPr>
            <p:ph type="sldNum" sz="quarter" idx="12"/>
          </p:nvPr>
        </p:nvSpPr>
        <p:spPr/>
        <p:txBody>
          <a:bodyPr/>
          <a:lstStyle/>
          <a:p>
            <a:fld id="{E31375A4-56A4-47D6-9801-1991572033F7}" type="slidenum">
              <a:rPr lang="fr-FR" smtClean="0"/>
              <a:pPr/>
              <a:t>‹N°›</a:t>
            </a:fld>
            <a:endParaRPr lang="fr-FR"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2592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fr-FR"/>
              <a:t>Modifiez le style du titre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447191" y="2824269"/>
            <a:ext cx="4645152" cy="26444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412362" y="2821491"/>
            <a:ext cx="4645152" cy="263737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7571E30-3F8C-45A0-A97D-32FEE21AD3FE}" type="datetime1">
              <a:rPr lang="fr-FR" smtClean="0"/>
              <a:pPr/>
              <a:t>17/04/2026</a:t>
            </a:fld>
            <a:endParaRPr lang="fr-FR" dirty="0"/>
          </a:p>
        </p:txBody>
      </p:sp>
      <p:sp>
        <p:nvSpPr>
          <p:cNvPr id="8" name="Footer Placeholder 7"/>
          <p:cNvSpPr>
            <a:spLocks noGrp="1"/>
          </p:cNvSpPr>
          <p:nvPr>
            <p:ph type="ftr" sz="quarter" idx="11"/>
          </p:nvPr>
        </p:nvSpPr>
        <p:spPr/>
        <p:txBody>
          <a:bodyPr/>
          <a:lstStyle/>
          <a:p>
            <a:pPr rtl="0"/>
            <a:endParaRPr lang="fr-FR" noProof="0" dirty="0"/>
          </a:p>
        </p:txBody>
      </p:sp>
      <p:sp>
        <p:nvSpPr>
          <p:cNvPr id="9" name="Slide Number Placeholder 8"/>
          <p:cNvSpPr>
            <a:spLocks noGrp="1"/>
          </p:cNvSpPr>
          <p:nvPr>
            <p:ph type="sldNum" sz="quarter" idx="12"/>
          </p:nvPr>
        </p:nvSpPr>
        <p:spPr/>
        <p:txBody>
          <a:bodyPr/>
          <a:lstStyle/>
          <a:p>
            <a:fld id="{E31375A4-56A4-47D6-9801-1991572033F7}" type="slidenum">
              <a:rPr lang="fr-FR" smtClean="0"/>
              <a:pPr/>
              <a:t>‹N°›</a:t>
            </a:fld>
            <a:endParaRPr lang="fr-FR"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0174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r>
              <a:rPr lang="fr-FR"/>
              <a:t>​</a:t>
            </a:r>
            <a:fld id="{B4D55279-C06B-4789-90C7-CDBF3CF07A5D}" type="datetime1">
              <a:rPr lang="fr-FR" smtClean="0"/>
              <a:pPr/>
              <a:t>17/04/2026</a:t>
            </a:fld>
            <a:r>
              <a:rPr lang="fr-FR"/>
              <a:t>​</a:t>
            </a:r>
            <a:endParaRPr lang="fr-FR" dirty="0"/>
          </a:p>
        </p:txBody>
      </p:sp>
      <p:sp>
        <p:nvSpPr>
          <p:cNvPr id="4" name="Footer Placeholder 3"/>
          <p:cNvSpPr>
            <a:spLocks noGrp="1"/>
          </p:cNvSpPr>
          <p:nvPr>
            <p:ph type="ftr" sz="quarter" idx="11"/>
          </p:nvPr>
        </p:nvSpPr>
        <p:spPr/>
        <p:txBody>
          <a:bodyPr/>
          <a:lstStyle/>
          <a:p>
            <a:pPr rtl="0"/>
            <a:endParaRPr lang="fr-FR" noProof="0" dirty="0"/>
          </a:p>
        </p:txBody>
      </p:sp>
      <p:sp>
        <p:nvSpPr>
          <p:cNvPr id="5" name="Slide Number Placeholder 4"/>
          <p:cNvSpPr>
            <a:spLocks noGrp="1"/>
          </p:cNvSpPr>
          <p:nvPr>
            <p:ph type="sldNum" sz="quarter" idx="12"/>
          </p:nvPr>
        </p:nvSpPr>
        <p:spPr/>
        <p:txBody>
          <a:bodyPr/>
          <a:lstStyle/>
          <a:p>
            <a:fld id="{E31375A4-56A4-47D6-9801-1991572033F7}" type="slidenum">
              <a:rPr lang="fr-FR" smtClean="0"/>
              <a:pPr/>
              <a:t>‹N°›</a:t>
            </a:fld>
            <a:endParaRPr lang="fr-FR"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49794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5EA7CD-A54C-4044-94F4-AD92C5338D2B}" type="datetime1">
              <a:rPr lang="fr-FR" smtClean="0"/>
              <a:pPr/>
              <a:t>17/04/2026</a:t>
            </a:fld>
            <a:endParaRPr lang="fr-FR" dirty="0"/>
          </a:p>
        </p:txBody>
      </p:sp>
      <p:sp>
        <p:nvSpPr>
          <p:cNvPr id="3" name="Footer Placeholder 2"/>
          <p:cNvSpPr>
            <a:spLocks noGrp="1"/>
          </p:cNvSpPr>
          <p:nvPr>
            <p:ph type="ftr" sz="quarter" idx="11"/>
          </p:nvPr>
        </p:nvSpPr>
        <p:spPr/>
        <p:txBody>
          <a:bodyPr/>
          <a:lstStyle/>
          <a:p>
            <a:pPr rtl="0"/>
            <a:endParaRPr lang="fr-FR" noProof="0" dirty="0"/>
          </a:p>
        </p:txBody>
      </p:sp>
      <p:sp>
        <p:nvSpPr>
          <p:cNvPr id="4" name="Slide Number Placeholder 3"/>
          <p:cNvSpPr>
            <a:spLocks noGrp="1"/>
          </p:cNvSpPr>
          <p:nvPr>
            <p:ph type="sldNum" sz="quarter" idx="12"/>
          </p:nvPr>
        </p:nvSpPr>
        <p:spPr/>
        <p:txBody>
          <a:body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2440027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fr-FR"/>
              <a:t>Modifiez le style du titre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214D363-38EB-4EFE-A4CB-9D469BC54DCB}" type="datetime1">
              <a:rPr lang="fr-FR" smtClean="0"/>
              <a:pPr/>
              <a:t>17/04/2026</a:t>
            </a:fld>
            <a:endParaRPr lang="fr-FR" dirty="0"/>
          </a:p>
        </p:txBody>
      </p:sp>
      <p:sp>
        <p:nvSpPr>
          <p:cNvPr id="6" name="Footer Placeholder 5"/>
          <p:cNvSpPr>
            <a:spLocks noGrp="1"/>
          </p:cNvSpPr>
          <p:nvPr>
            <p:ph type="ftr" sz="quarter" idx="11"/>
          </p:nvPr>
        </p:nvSpPr>
        <p:spPr/>
        <p:txBody>
          <a:bodyPr/>
          <a:lstStyle/>
          <a:p>
            <a:pPr rtl="0"/>
            <a:endParaRPr lang="fr-FR" noProof="0" dirty="0"/>
          </a:p>
        </p:txBody>
      </p:sp>
      <p:sp>
        <p:nvSpPr>
          <p:cNvPr id="7" name="Slide Number Placeholder 6"/>
          <p:cNvSpPr>
            <a:spLocks noGrp="1"/>
          </p:cNvSpPr>
          <p:nvPr>
            <p:ph type="sldNum" sz="quarter" idx="12"/>
          </p:nvPr>
        </p:nvSpPr>
        <p:spPr/>
        <p:txBody>
          <a:bodyPr/>
          <a:lstStyle/>
          <a:p>
            <a:fld id="{E31375A4-56A4-47D6-9801-1991572033F7}" type="slidenum">
              <a:rPr lang="fr-FR" smtClean="0"/>
              <a:pPr/>
              <a:t>‹N°›</a:t>
            </a:fld>
            <a:endParaRPr lang="fr-FR"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1405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5AC62B6-9765-4D0D-A062-B6261D408591}" type="datetime1">
              <a:rPr lang="fr-FR" smtClean="0"/>
              <a:pPr/>
              <a:t>17/04/2026</a:t>
            </a:fld>
            <a:endParaRPr lang="fr-FR" dirty="0"/>
          </a:p>
        </p:txBody>
      </p:sp>
      <p:sp>
        <p:nvSpPr>
          <p:cNvPr id="6" name="Footer Placeholder 5"/>
          <p:cNvSpPr>
            <a:spLocks noGrp="1"/>
          </p:cNvSpPr>
          <p:nvPr>
            <p:ph type="ftr" sz="quarter" idx="11"/>
          </p:nvPr>
        </p:nvSpPr>
        <p:spPr>
          <a:xfrm>
            <a:off x="1447382" y="318640"/>
            <a:ext cx="5541004" cy="320931"/>
          </a:xfrm>
        </p:spPr>
        <p:txBody>
          <a:bodyPr/>
          <a:lstStyle/>
          <a:p>
            <a:pPr rtl="0"/>
            <a:endParaRPr lang="fr-FR" noProof="0" dirty="0"/>
          </a:p>
        </p:txBody>
      </p:sp>
      <p:sp>
        <p:nvSpPr>
          <p:cNvPr id="7" name="Slide Number Placeholder 6"/>
          <p:cNvSpPr>
            <a:spLocks noGrp="1"/>
          </p:cNvSpPr>
          <p:nvPr>
            <p:ph type="sldNum" sz="quarter" idx="12"/>
          </p:nvPr>
        </p:nvSpPr>
        <p:spPr/>
        <p:txBody>
          <a:bodyPr/>
          <a:lstStyle/>
          <a:p>
            <a:fld id="{E31375A4-56A4-47D6-9801-1991572033F7}" type="slidenum">
              <a:rPr lang="fr-FR" smtClean="0"/>
              <a:pPr/>
              <a:t>‹N°›</a:t>
            </a:fld>
            <a:endParaRPr lang="fr-FR"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26412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5560E40-E96F-4F90-B177-9CA529868AE7}" type="datetime1">
              <a:rPr lang="fr-FR" smtClean="0"/>
              <a:pPr/>
              <a:t>17/04/2026</a:t>
            </a:fld>
            <a:endParaRPr lang="fr-FR" dirty="0"/>
          </a:p>
        </p:txBody>
      </p:sp>
      <p:sp>
        <p:nvSpPr>
          <p:cNvPr id="5" name="Footer Placeholder 4"/>
          <p:cNvSpPr>
            <a:spLocks noGrp="1"/>
          </p:cNvSpPr>
          <p:nvPr>
            <p:ph type="ftr" sz="quarter" idx="11"/>
          </p:nvPr>
        </p:nvSpPr>
        <p:spPr/>
        <p:txBody>
          <a:bodyPr/>
          <a:lstStyle/>
          <a:p>
            <a:pPr rtl="0"/>
            <a:endParaRPr lang="fr-FR" noProof="0" dirty="0"/>
          </a:p>
        </p:txBody>
      </p:sp>
      <p:sp>
        <p:nvSpPr>
          <p:cNvPr id="6" name="Slide Number Placeholder 5"/>
          <p:cNvSpPr>
            <a:spLocks noGrp="1"/>
          </p:cNvSpPr>
          <p:nvPr>
            <p:ph type="sldNum" sz="quarter" idx="12"/>
          </p:nvPr>
        </p:nvSpPr>
        <p:spPr/>
        <p:txBody>
          <a:bodyPr/>
          <a:lstStyle/>
          <a:p>
            <a:fld id="{E31375A4-56A4-47D6-9801-1991572033F7}" type="slidenum">
              <a:rPr lang="fr-FR" smtClean="0"/>
              <a:pPr/>
              <a:t>‹N°›</a:t>
            </a:fld>
            <a:endParaRPr lang="fr-FR"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8255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95D8A20-D5AA-4EBF-82E0-3620BEFE5662}" type="datetime1">
              <a:rPr lang="fr-FR" smtClean="0"/>
              <a:pPr/>
              <a:t>17/04/2026</a:t>
            </a:fld>
            <a:endParaRPr lang="fr-FR" dirty="0"/>
          </a:p>
        </p:txBody>
      </p:sp>
      <p:sp>
        <p:nvSpPr>
          <p:cNvPr id="5" name="Footer Placeholder 4"/>
          <p:cNvSpPr>
            <a:spLocks noGrp="1"/>
          </p:cNvSpPr>
          <p:nvPr>
            <p:ph type="ftr" sz="quarter" idx="11"/>
          </p:nvPr>
        </p:nvSpPr>
        <p:spPr/>
        <p:txBody>
          <a:bodyPr/>
          <a:lstStyle/>
          <a:p>
            <a:pPr rtl="0"/>
            <a:endParaRPr lang="fr-FR" noProof="0" dirty="0"/>
          </a:p>
        </p:txBody>
      </p:sp>
      <p:sp>
        <p:nvSpPr>
          <p:cNvPr id="6" name="Slide Number Placeholder 5"/>
          <p:cNvSpPr>
            <a:spLocks noGrp="1"/>
          </p:cNvSpPr>
          <p:nvPr>
            <p:ph type="sldNum" sz="quarter" idx="12"/>
          </p:nvPr>
        </p:nvSpPr>
        <p:spPr/>
        <p:txBody>
          <a:bodyPr/>
          <a:lstStyle/>
          <a:p>
            <a:fld id="{E31375A4-56A4-47D6-9801-1991572033F7}" type="slidenum">
              <a:rPr lang="fr-FR" smtClean="0"/>
              <a:pPr/>
              <a:t>‹N°›</a:t>
            </a:fld>
            <a:endParaRPr lang="fr-FR"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1145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Diapositive de titre avec image">
    <p:spTree>
      <p:nvGrpSpPr>
        <p:cNvPr id="1" name=""/>
        <p:cNvGrpSpPr/>
        <p:nvPr/>
      </p:nvGrpSpPr>
      <p:grpSpPr>
        <a:xfrm>
          <a:off x="0" y="0"/>
          <a:ext cx="0" cy="0"/>
          <a:chOff x="0" y="0"/>
          <a:chExt cx="0" cy="0"/>
        </a:xfrm>
      </p:grpSpPr>
      <p:sp>
        <p:nvSpPr>
          <p:cNvPr id="2" name="Titre 1"/>
          <p:cNvSpPr>
            <a:spLocks noGrp="1"/>
          </p:cNvSpPr>
          <p:nvPr>
            <p:ph type="ctrTitle"/>
          </p:nvPr>
        </p:nvSpPr>
        <p:spPr>
          <a:xfrm>
            <a:off x="1104900" y="2292094"/>
            <a:ext cx="5734050" cy="2219691"/>
          </a:xfrm>
        </p:spPr>
        <p:txBody>
          <a:bodyPr rtlCol="0" anchor="ctr">
            <a:normAutofit/>
          </a:bodyPr>
          <a:lstStyle>
            <a:lvl1pPr algn="l" rtl="0">
              <a:defRPr sz="4400" cap="all" baseline="0"/>
            </a:lvl1pPr>
          </a:lstStyle>
          <a:p>
            <a:pPr rtl="0"/>
            <a:r>
              <a:rPr lang="fr-FR" noProof="0"/>
              <a:t>Modifiez le style du titre</a:t>
            </a:r>
            <a:endParaRPr lang="fr-FR" noProof="0" dirty="0"/>
          </a:p>
        </p:txBody>
      </p:sp>
      <p:sp>
        <p:nvSpPr>
          <p:cNvPr id="3" name="Sous-titre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fr-FR" noProof="0"/>
              <a:t>Modifiez le style des sous-titres du masque</a:t>
            </a:r>
            <a:endParaRPr lang="fr-FR" noProof="0" dirty="0"/>
          </a:p>
        </p:txBody>
      </p:sp>
      <p:sp>
        <p:nvSpPr>
          <p:cNvPr id="11" name="Espace réservé d’image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vl1pPr>
          </a:lstStyle>
          <a:p>
            <a:pPr rtl="0"/>
            <a:r>
              <a:rPr lang="fr-FR" noProof="0"/>
              <a:t>Cliquez sur l'icône pour ajouter une image</a:t>
            </a:r>
            <a:endParaRPr lang="fr-FR" noProof="0" dirty="0"/>
          </a:p>
        </p:txBody>
      </p:sp>
    </p:spTree>
    <p:extLst>
      <p:ext uri="{BB962C8B-B14F-4D97-AF65-F5344CB8AC3E}">
        <p14:creationId xmlns:p14="http://schemas.microsoft.com/office/powerpoint/2010/main" val="523817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fr-FR"/>
              <a:t>​</a:t>
            </a:r>
            <a:fld id="{B4D55279-C06B-4789-90C7-CDBF3CF07A5D}" type="datetime1">
              <a:rPr lang="fr-FR" smtClean="0"/>
              <a:pPr/>
              <a:t>17/04/2026</a:t>
            </a:fld>
            <a:r>
              <a:rPr lang="fr-FR"/>
              <a:t>​</a:t>
            </a:r>
            <a:endParaRPr lang="fr-FR"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pPr rtl="0"/>
            <a:endParaRPr lang="fr-FR" noProof="0"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31375A4-56A4-47D6-9801-1991572033F7}" type="slidenum">
              <a:rPr lang="fr-FR" smtClean="0"/>
              <a:pPr/>
              <a:t>‹N°›</a:t>
            </a:fld>
            <a:endParaRPr lang="fr-FR"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96929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ctrTitle"/>
          </p:nvPr>
        </p:nvSpPr>
        <p:spPr>
          <a:xfrm>
            <a:off x="819807" y="1292772"/>
            <a:ext cx="10668000" cy="4056994"/>
          </a:xfrm>
          <a:solidFill>
            <a:schemeClr val="accent5">
              <a:lumMod val="40000"/>
              <a:lumOff val="60000"/>
            </a:schemeClr>
          </a:solidFill>
          <a:ln>
            <a:solidFill>
              <a:srgbClr val="7030A0"/>
            </a:solidFill>
          </a:ln>
        </p:spPr>
        <p:txBody>
          <a:bodyPr>
            <a:normAutofit fontScale="90000"/>
          </a:bodyPr>
          <a:lstStyle/>
          <a:p>
            <a:pPr lvl="0" algn="ctr"/>
            <a:br>
              <a:rPr lang="fr-FR" sz="3600" b="1" dirty="0">
                <a:effectLst>
                  <a:outerShdw blurRad="38100" dist="38100" dir="2700000" algn="tl">
                    <a:srgbClr val="000000">
                      <a:alpha val="43137"/>
                    </a:srgbClr>
                  </a:outerShdw>
                </a:effectLst>
              </a:rPr>
            </a:br>
            <a:br>
              <a:rPr lang="fr-FR" sz="2200" b="1" dirty="0">
                <a:solidFill>
                  <a:schemeClr val="accent1"/>
                </a:solidFill>
                <a:effectLst>
                  <a:outerShdw blurRad="38100" dist="38100" dir="2700000" algn="tl">
                    <a:srgbClr val="000000">
                      <a:alpha val="43137"/>
                    </a:srgbClr>
                  </a:outerShdw>
                </a:effectLst>
              </a:rPr>
            </a:br>
            <a:br>
              <a:rPr lang="fr-FR" sz="2200" b="1" dirty="0">
                <a:solidFill>
                  <a:srgbClr val="0070C0"/>
                </a:solidFill>
              </a:rPr>
            </a:br>
            <a:br>
              <a:rPr lang="fr-FR" sz="7300" b="1" dirty="0">
                <a:latin typeface="Arial Black" panose="020B0A04020102020204" pitchFamily="34" charset="0"/>
              </a:rPr>
            </a:br>
            <a:r>
              <a:rPr lang="fr-FR" sz="6700" b="1" dirty="0">
                <a:latin typeface="Arial Black" panose="020B0A04020102020204" pitchFamily="34" charset="0"/>
              </a:rPr>
              <a:t>le droit d’auteur et les droits voisins</a:t>
            </a:r>
            <a:br>
              <a:rPr lang="fr-FR" sz="9800" dirty="0">
                <a:solidFill>
                  <a:srgbClr val="7030A0"/>
                </a:solidFill>
                <a:latin typeface="Arial Black" panose="020B0A04020102020204" pitchFamily="34" charset="0"/>
              </a:rPr>
            </a:br>
            <a:br>
              <a:rPr lang="fr-FR" sz="7300" dirty="0">
                <a:solidFill>
                  <a:srgbClr val="7030A0"/>
                </a:solidFill>
              </a:rPr>
            </a:br>
            <a:br>
              <a:rPr lang="fr-FR" sz="1600" dirty="0">
                <a:solidFill>
                  <a:srgbClr val="002060"/>
                </a:solidFill>
              </a:rPr>
            </a:br>
            <a:br>
              <a:rPr lang="fr-FR" sz="1600" dirty="0">
                <a:solidFill>
                  <a:srgbClr val="002060"/>
                </a:solidFill>
              </a:rPr>
            </a:br>
            <a:br>
              <a:rPr lang="fr-FR" sz="1600" dirty="0">
                <a:solidFill>
                  <a:srgbClr val="002060"/>
                </a:solidFill>
              </a:rPr>
            </a:br>
            <a:br>
              <a:rPr lang="fr-FR" sz="1300" i="1" dirty="0">
                <a:solidFill>
                  <a:srgbClr val="514843"/>
                </a:solidFill>
              </a:rPr>
            </a:br>
            <a:endParaRPr lang="fr-FR" sz="2000" dirty="0">
              <a:solidFill>
                <a:srgbClr val="0070C0"/>
              </a:solidFill>
            </a:endParaRPr>
          </a:p>
        </p:txBody>
      </p:sp>
      <p:sp>
        <p:nvSpPr>
          <p:cNvPr id="2" name="Rectangle 1"/>
          <p:cNvSpPr/>
          <p:nvPr/>
        </p:nvSpPr>
        <p:spPr>
          <a:xfrm>
            <a:off x="0" y="5237726"/>
            <a:ext cx="184731" cy="584775"/>
          </a:xfrm>
          <a:prstGeom prst="rect">
            <a:avLst/>
          </a:prstGeom>
        </p:spPr>
        <p:txBody>
          <a:bodyPr wrap="none">
            <a:spAutoFit/>
          </a:bodyPr>
          <a:lstStyle/>
          <a:p>
            <a:endParaRPr lang="fr-FR" sz="1600" dirty="0">
              <a:solidFill>
                <a:schemeClr val="tx2"/>
              </a:solidFill>
              <a:latin typeface="Georgia" panose="02040502050405020303" pitchFamily="18" charset="0"/>
            </a:endParaRPr>
          </a:p>
          <a:p>
            <a:endParaRPr lang="fr-FR" sz="1600" dirty="0">
              <a:solidFill>
                <a:schemeClr val="tx2"/>
              </a:solidFill>
              <a:latin typeface="Georgia" panose="02040502050405020303" pitchFamily="18" charset="0"/>
            </a:endParaRPr>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title"/>
          </p:nvPr>
        </p:nvSpPr>
        <p:spPr>
          <a:xfrm>
            <a:off x="-1" y="0"/>
            <a:ext cx="4061829" cy="6858000"/>
          </a:xfrm>
          <a:solidFill>
            <a:schemeClr val="accent6">
              <a:lumMod val="50000"/>
            </a:schemeClr>
          </a:solidFill>
        </p:spPr>
        <p:txBody>
          <a:bodyPr>
            <a:normAutofit/>
          </a:bodyPr>
          <a:lstStyle/>
          <a:p>
            <a:pPr algn="ctr"/>
            <a:br>
              <a:rPr lang="fr-FR" sz="3600" b="1" dirty="0">
                <a:solidFill>
                  <a:srgbClr val="FFFFFF"/>
                </a:solidFill>
                <a:effectLst>
                  <a:outerShdw blurRad="38100" dist="38100" dir="2700000" algn="tl">
                    <a:srgbClr val="000000">
                      <a:alpha val="43137"/>
                    </a:srgbClr>
                  </a:outerShdw>
                </a:effectLst>
              </a:rPr>
            </a:br>
            <a:br>
              <a:rPr lang="fr-FR" sz="3600" b="1" dirty="0">
                <a:solidFill>
                  <a:srgbClr val="FFFFFF"/>
                </a:solidFill>
                <a:effectLst>
                  <a:outerShdw blurRad="38100" dist="38100" dir="2700000" algn="tl">
                    <a:srgbClr val="000000">
                      <a:alpha val="43137"/>
                    </a:srgbClr>
                  </a:outerShdw>
                </a:effectLst>
              </a:rPr>
            </a:br>
            <a:br>
              <a:rPr lang="fr-FR" sz="3600" b="1" dirty="0">
                <a:solidFill>
                  <a:srgbClr val="FFFFFF"/>
                </a:solidFill>
                <a:effectLst>
                  <a:outerShdw blurRad="38100" dist="38100" dir="2700000" algn="tl">
                    <a:srgbClr val="000000">
                      <a:alpha val="43137"/>
                    </a:srgbClr>
                  </a:outerShdw>
                </a:effectLst>
              </a:rPr>
            </a:br>
            <a:br>
              <a:rPr lang="fr-FR" sz="3600" b="1" dirty="0">
                <a:solidFill>
                  <a:srgbClr val="FFFFFF"/>
                </a:solidFill>
                <a:effectLst>
                  <a:outerShdw blurRad="38100" dist="38100" dir="2700000" algn="tl">
                    <a:srgbClr val="000000">
                      <a:alpha val="43137"/>
                    </a:srgbClr>
                  </a:outerShdw>
                </a:effectLst>
              </a:rPr>
            </a:br>
            <a:br>
              <a:rPr lang="fr-FR" sz="3600" b="1" dirty="0">
                <a:solidFill>
                  <a:srgbClr val="FFFFFF"/>
                </a:solidFill>
                <a:effectLst>
                  <a:outerShdw blurRad="38100" dist="38100" dir="2700000" algn="tl">
                    <a:srgbClr val="000000">
                      <a:alpha val="43137"/>
                    </a:srgbClr>
                  </a:outerShdw>
                </a:effectLst>
              </a:rPr>
            </a:br>
            <a:r>
              <a:rPr lang="fr-FR" sz="3600" b="1" dirty="0">
                <a:solidFill>
                  <a:srgbClr val="FFFFFF"/>
                </a:solidFill>
                <a:effectLst>
                  <a:outerShdw blurRad="38100" dist="38100" dir="2700000" algn="tl">
                    <a:srgbClr val="000000">
                      <a:alpha val="43137"/>
                    </a:srgbClr>
                  </a:outerShdw>
                </a:effectLst>
              </a:rPr>
              <a:t>PLAN DU COURS</a:t>
            </a:r>
            <a:br>
              <a:rPr lang="fr-FR" b="1" dirty="0">
                <a:solidFill>
                  <a:srgbClr val="FFFFFF"/>
                </a:solidFill>
              </a:rPr>
            </a:br>
            <a:endParaRPr lang="fr-FR" b="1" dirty="0">
              <a:solidFill>
                <a:srgbClr val="FFFFFF"/>
              </a:solidFill>
            </a:endParaRPr>
          </a:p>
        </p:txBody>
      </p:sp>
      <p:sp>
        <p:nvSpPr>
          <p:cNvPr id="3" name="Espace réservé du contenu 2"/>
          <p:cNvSpPr>
            <a:spLocks noGrp="1"/>
          </p:cNvSpPr>
          <p:nvPr>
            <p:ph idx="1"/>
          </p:nvPr>
        </p:nvSpPr>
        <p:spPr>
          <a:xfrm>
            <a:off x="4314374" y="287383"/>
            <a:ext cx="7625078" cy="5869159"/>
          </a:xfrm>
        </p:spPr>
        <p:txBody>
          <a:bodyPr anchor="t">
            <a:normAutofit/>
          </a:bodyPr>
          <a:lstStyle/>
          <a:p>
            <a:r>
              <a:rPr lang="fr-FR" dirty="0"/>
              <a:t> </a:t>
            </a:r>
            <a:r>
              <a:rPr lang="fr-FR" b="1" u="sng" dirty="0"/>
              <a:t>TITRE 1</a:t>
            </a:r>
            <a:r>
              <a:rPr lang="fr-FR" dirty="0"/>
              <a:t> :   </a:t>
            </a:r>
            <a:r>
              <a:rPr lang="fr-FR" b="1" i="1" dirty="0"/>
              <a:t>LE DROIT D’AUTEUR</a:t>
            </a:r>
            <a:endParaRPr lang="fr-FR" dirty="0"/>
          </a:p>
          <a:p>
            <a:r>
              <a:rPr lang="fr-FR" i="1" u="sng" dirty="0"/>
              <a:t>Chapitre 1</a:t>
            </a:r>
            <a:r>
              <a:rPr lang="fr-FR" i="1" dirty="0"/>
              <a:t> : Les grands principes du droit d’auteur</a:t>
            </a:r>
            <a:endParaRPr lang="fr-FR" dirty="0"/>
          </a:p>
          <a:p>
            <a:r>
              <a:rPr lang="fr-FR" i="1" u="sng" dirty="0"/>
              <a:t>Chapitre 2</a:t>
            </a:r>
            <a:r>
              <a:rPr lang="fr-FR" i="1" dirty="0"/>
              <a:t> : Les composantes et caractères</a:t>
            </a:r>
            <a:endParaRPr lang="fr-FR" dirty="0"/>
          </a:p>
          <a:p>
            <a:r>
              <a:rPr lang="fr-FR" b="1" u="sng" dirty="0"/>
              <a:t>TITRE 2 :</a:t>
            </a:r>
            <a:r>
              <a:rPr lang="fr-FR" dirty="0"/>
              <a:t>  </a:t>
            </a:r>
            <a:r>
              <a:rPr lang="fr-FR" b="1" i="1" dirty="0"/>
              <a:t>LES DROITS VOISINS </a:t>
            </a:r>
            <a:endParaRPr lang="fr-FR" dirty="0"/>
          </a:p>
          <a:p>
            <a:r>
              <a:rPr lang="fr-FR" i="1" u="sng" dirty="0"/>
              <a:t>Chapitre</a:t>
            </a:r>
            <a:r>
              <a:rPr lang="fr-FR" i="1" dirty="0"/>
              <a:t> 1 : Les grands principes des droits voisins</a:t>
            </a:r>
            <a:endParaRPr lang="fr-FR" dirty="0"/>
          </a:p>
          <a:p>
            <a:r>
              <a:rPr lang="fr-FR" i="1" u="sng" dirty="0"/>
              <a:t>Chapitre</a:t>
            </a:r>
            <a:r>
              <a:rPr lang="fr-FR" i="1" dirty="0"/>
              <a:t> 2 : Les composantes et caractères des droits voisins</a:t>
            </a:r>
            <a:endParaRPr lang="fr-FR" dirty="0"/>
          </a:p>
          <a:p>
            <a:r>
              <a:rPr lang="fr-FR" b="1" u="sng" dirty="0"/>
              <a:t>TITRE 3</a:t>
            </a:r>
            <a:r>
              <a:rPr lang="fr-FR" dirty="0"/>
              <a:t> :</a:t>
            </a:r>
            <a:r>
              <a:rPr lang="fr-FR" b="1" i="1" dirty="0"/>
              <a:t>LA MISE EN ŒUVRE DES DROITS D’AUTEUR et DES DROITS VOISINS</a:t>
            </a:r>
            <a:endParaRPr lang="fr-FR" dirty="0"/>
          </a:p>
          <a:p>
            <a:r>
              <a:rPr lang="fr-FR" i="1" u="sng" dirty="0"/>
              <a:t>Chapitre 1 </a:t>
            </a:r>
            <a:r>
              <a:rPr lang="fr-FR" i="1" dirty="0"/>
              <a:t>: l’exercice individuel des droits</a:t>
            </a:r>
            <a:endParaRPr lang="fr-FR" dirty="0"/>
          </a:p>
          <a:p>
            <a:r>
              <a:rPr lang="fr-FR" i="1" u="sng" dirty="0"/>
              <a:t>Chapitre</a:t>
            </a:r>
            <a:r>
              <a:rPr lang="fr-FR" i="1" dirty="0"/>
              <a:t> 2 : La gestion collective des droits</a:t>
            </a:r>
            <a:endParaRPr lang="fr-FR" dirty="0"/>
          </a:p>
          <a:p>
            <a:pPr>
              <a:lnSpc>
                <a:spcPct val="110000"/>
              </a:lnSpc>
            </a:pPr>
            <a:endParaRPr lang="fr-FR" dirty="0"/>
          </a:p>
        </p:txBody>
      </p:sp>
    </p:spTree>
    <p:extLst>
      <p:ext uri="{BB962C8B-B14F-4D97-AF65-F5344CB8AC3E}">
        <p14:creationId xmlns:p14="http://schemas.microsoft.com/office/powerpoint/2010/main" val="7185018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A0B068-B94F-4780-A23C-4067B52CADDB}"/>
              </a:ext>
            </a:extLst>
          </p:cNvPr>
          <p:cNvSpPr>
            <a:spLocks noGrp="1"/>
          </p:cNvSpPr>
          <p:nvPr>
            <p:ph type="title"/>
          </p:nvPr>
        </p:nvSpPr>
        <p:spPr>
          <a:xfrm>
            <a:off x="2197648" y="233979"/>
            <a:ext cx="7178566" cy="513574"/>
          </a:xfrm>
          <a:solidFill>
            <a:schemeClr val="bg2">
              <a:lumMod val="75000"/>
            </a:schemeClr>
          </a:solidFill>
          <a:ln>
            <a:solidFill>
              <a:schemeClr val="accent1">
                <a:lumMod val="75000"/>
              </a:schemeClr>
            </a:solidFill>
          </a:ln>
        </p:spPr>
        <p:txBody>
          <a:bodyPr>
            <a:normAutofit fontScale="90000"/>
          </a:bodyPr>
          <a:lstStyle/>
          <a:p>
            <a:r>
              <a:rPr lang="fr-FR" b="1" u="sng" dirty="0"/>
              <a:t>TITRE 1</a:t>
            </a:r>
            <a:r>
              <a:rPr lang="fr-FR" dirty="0"/>
              <a:t> : </a:t>
            </a:r>
            <a:r>
              <a:rPr lang="fr-FR" b="1" i="1" dirty="0"/>
              <a:t>LE DROIT D’AUTEUR</a:t>
            </a:r>
            <a:endParaRPr lang="fr-FR" dirty="0"/>
          </a:p>
        </p:txBody>
      </p:sp>
      <p:sp>
        <p:nvSpPr>
          <p:cNvPr id="3" name="Espace réservé du contenu 2">
            <a:extLst>
              <a:ext uri="{FF2B5EF4-FFF2-40B4-BE49-F238E27FC236}">
                <a16:creationId xmlns:a16="http://schemas.microsoft.com/office/drawing/2014/main" id="{52294ED2-0C56-4808-8357-BD60D68FE359}"/>
              </a:ext>
            </a:extLst>
          </p:cNvPr>
          <p:cNvSpPr>
            <a:spLocks noGrp="1"/>
          </p:cNvSpPr>
          <p:nvPr>
            <p:ph idx="1"/>
          </p:nvPr>
        </p:nvSpPr>
        <p:spPr>
          <a:xfrm>
            <a:off x="836850" y="853816"/>
            <a:ext cx="10281868" cy="5241851"/>
          </a:xfrm>
          <a:solidFill>
            <a:schemeClr val="bg2">
              <a:lumMod val="90000"/>
            </a:schemeClr>
          </a:solidFill>
          <a:ln>
            <a:solidFill>
              <a:srgbClr val="7030A0"/>
            </a:solidFill>
          </a:ln>
        </p:spPr>
        <p:txBody>
          <a:bodyPr>
            <a:normAutofit/>
          </a:bodyPr>
          <a:lstStyle/>
          <a:p>
            <a:pPr algn="just">
              <a:lnSpc>
                <a:spcPct val="150000"/>
              </a:lnSpc>
            </a:pPr>
            <a:r>
              <a:rPr lang="fr-FR" dirty="0"/>
              <a:t>Le droit d’auteur est organisé par un corpus législatif et règlementaire sortant très souvent du droit commun et qui confère aux auteurs, artistes et autres créateurs une protection pour leur création littéraire et artistique généralement dénommées œuvres. Le droit d’auteur est fondé sur une architecture opérationnelle très élaborée.</a:t>
            </a:r>
          </a:p>
          <a:p>
            <a:pPr algn="just">
              <a:lnSpc>
                <a:spcPct val="150000"/>
              </a:lnSpc>
            </a:pPr>
            <a:endParaRPr lang="fr-FR" b="1" dirty="0"/>
          </a:p>
        </p:txBody>
      </p:sp>
    </p:spTree>
    <p:extLst>
      <p:ext uri="{BB962C8B-B14F-4D97-AF65-F5344CB8AC3E}">
        <p14:creationId xmlns:p14="http://schemas.microsoft.com/office/powerpoint/2010/main" val="10104559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378B18-F4CE-43D1-85CB-3FC9EBCC62F2}"/>
              </a:ext>
            </a:extLst>
          </p:cNvPr>
          <p:cNvSpPr>
            <a:spLocks noGrp="1"/>
          </p:cNvSpPr>
          <p:nvPr>
            <p:ph type="title"/>
          </p:nvPr>
        </p:nvSpPr>
        <p:spPr>
          <a:xfrm>
            <a:off x="2764221" y="219403"/>
            <a:ext cx="6758151" cy="418772"/>
          </a:xfrm>
          <a:solidFill>
            <a:schemeClr val="accent6">
              <a:lumMod val="60000"/>
              <a:lumOff val="40000"/>
            </a:schemeClr>
          </a:solidFill>
          <a:ln>
            <a:solidFill>
              <a:schemeClr val="accent4">
                <a:lumMod val="75000"/>
              </a:schemeClr>
            </a:solidFill>
          </a:ln>
        </p:spPr>
        <p:txBody>
          <a:bodyPr>
            <a:normAutofit fontScale="90000"/>
          </a:bodyPr>
          <a:lstStyle/>
          <a:p>
            <a:pPr algn="ctr"/>
            <a:r>
              <a:rPr lang="fr-FR" sz="1800" b="1" u="sng" dirty="0"/>
              <a:t>Chapitre 1 </a:t>
            </a:r>
            <a:r>
              <a:rPr lang="fr-FR" sz="1800" dirty="0"/>
              <a:t>: </a:t>
            </a:r>
            <a:r>
              <a:rPr lang="fr-FR" sz="1800" b="1" dirty="0"/>
              <a:t>LES GRANDS PRINCIPES DU DROIT D’AUTEUR</a:t>
            </a:r>
            <a:br>
              <a:rPr lang="fr-FR" dirty="0"/>
            </a:br>
            <a:br>
              <a:rPr lang="fr-FR" sz="2800" b="1" dirty="0">
                <a:solidFill>
                  <a:schemeClr val="accent1"/>
                </a:solidFill>
                <a:effectLst>
                  <a:outerShdw blurRad="38100" dist="38100" dir="2700000" algn="tl">
                    <a:srgbClr val="000000">
                      <a:alpha val="43137"/>
                    </a:srgbClr>
                  </a:outerShdw>
                </a:effectLst>
              </a:rPr>
            </a:br>
            <a:br>
              <a:rPr lang="fr-FR" sz="2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br>
            <a:endParaRPr lang="fr-FR" b="1" dirty="0">
              <a:solidFill>
                <a:schemeClr val="tx1"/>
              </a:solidFill>
            </a:endParaRPr>
          </a:p>
        </p:txBody>
      </p:sp>
      <p:sp>
        <p:nvSpPr>
          <p:cNvPr id="3" name="Espace réservé du contenu 2">
            <a:extLst>
              <a:ext uri="{FF2B5EF4-FFF2-40B4-BE49-F238E27FC236}">
                <a16:creationId xmlns:a16="http://schemas.microsoft.com/office/drawing/2014/main" id="{741B00B5-ABC9-49A0-8708-209AED087F35}"/>
              </a:ext>
            </a:extLst>
          </p:cNvPr>
          <p:cNvSpPr>
            <a:spLocks noGrp="1"/>
          </p:cNvSpPr>
          <p:nvPr>
            <p:ph idx="1"/>
          </p:nvPr>
        </p:nvSpPr>
        <p:spPr>
          <a:xfrm>
            <a:off x="1209791" y="729843"/>
            <a:ext cx="10281868" cy="5266920"/>
          </a:xfrm>
          <a:solidFill>
            <a:schemeClr val="accent6">
              <a:lumMod val="60000"/>
              <a:lumOff val="40000"/>
            </a:schemeClr>
          </a:solidFill>
          <a:ln>
            <a:solidFill>
              <a:srgbClr val="7030A0"/>
            </a:solidFill>
          </a:ln>
        </p:spPr>
        <p:txBody>
          <a:bodyPr>
            <a:normAutofit/>
          </a:bodyPr>
          <a:lstStyle/>
          <a:p>
            <a:pPr marL="0" indent="0" algn="just">
              <a:lnSpc>
                <a:spcPct val="150000"/>
              </a:lnSpc>
              <a:buNone/>
            </a:pPr>
            <a:r>
              <a:rPr lang="fr-SN" dirty="0"/>
              <a:t>Le droit d’auteur protège la forme dans laquelle l’idée est présentée, et non l’idée elle-même (une idée n’est pas protégeable, le meilleur moyen de la protéger, c’est de la garder pour soi…). Il ne s’attache pas au fond mais à la forme d’expression de l’idée (une musique, des paroles, un écrit, un dessin, une photo, une sculpture…).</a:t>
            </a:r>
            <a:r>
              <a:rPr lang="fr-SN" b="1" dirty="0"/>
              <a:t> </a:t>
            </a:r>
          </a:p>
          <a:p>
            <a:pPr marL="0" indent="0" algn="just">
              <a:lnSpc>
                <a:spcPct val="150000"/>
              </a:lnSpc>
              <a:buNone/>
            </a:pPr>
            <a:r>
              <a:rPr lang="fr-SN" dirty="0"/>
              <a:t>La loi protège l’auteur contre toute utilisation de son œuvre sans autorisation.</a:t>
            </a:r>
            <a:r>
              <a:rPr lang="fr-SN" b="1" dirty="0"/>
              <a:t> </a:t>
            </a:r>
            <a:r>
              <a:rPr lang="fr-SN" dirty="0"/>
              <a:t>L’auteur d’une œuvre de l’esprit jouit sur cette œuvre, du seul fait de sa création, d'un droit de propriété incorporelle exclusif et opposable à tous.</a:t>
            </a:r>
            <a:endParaRPr lang="fr-FR" dirty="0"/>
          </a:p>
          <a:p>
            <a:pPr marL="0" indent="0" algn="just">
              <a:lnSpc>
                <a:spcPct val="150000"/>
              </a:lnSpc>
              <a:buNone/>
            </a:pPr>
            <a:endParaRPr lang="fr-FR" dirty="0"/>
          </a:p>
        </p:txBody>
      </p:sp>
    </p:spTree>
    <p:extLst>
      <p:ext uri="{BB962C8B-B14F-4D97-AF65-F5344CB8AC3E}">
        <p14:creationId xmlns:p14="http://schemas.microsoft.com/office/powerpoint/2010/main" val="5106526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8910" y="216554"/>
            <a:ext cx="7662042" cy="592743"/>
          </a:xfrm>
          <a:solidFill>
            <a:schemeClr val="accent5">
              <a:lumMod val="60000"/>
              <a:lumOff val="40000"/>
            </a:schemeClr>
          </a:solidFill>
          <a:ln>
            <a:solidFill>
              <a:schemeClr val="accent4">
                <a:lumMod val="75000"/>
              </a:schemeClr>
            </a:solidFill>
          </a:ln>
        </p:spPr>
        <p:txBody>
          <a:bodyPr>
            <a:noAutofit/>
          </a:bodyPr>
          <a:lstStyle/>
          <a:p>
            <a:r>
              <a:rPr lang="fr-FR" sz="1800" b="1" u="sng" dirty="0"/>
              <a:t>Chapitre 2</a:t>
            </a:r>
            <a:r>
              <a:rPr lang="fr-FR" sz="1800" dirty="0"/>
              <a:t> :</a:t>
            </a:r>
            <a:r>
              <a:rPr lang="fr-FR" sz="1800" b="1" u="sng" dirty="0"/>
              <a:t> LES COMPOSANTES ET CARACTERES DU DA</a:t>
            </a:r>
            <a:endParaRPr lang="fr-FR" sz="1800" dirty="0"/>
          </a:p>
        </p:txBody>
      </p:sp>
      <p:sp>
        <p:nvSpPr>
          <p:cNvPr id="3" name="Espace réservé du contenu 2"/>
          <p:cNvSpPr>
            <a:spLocks noGrp="1"/>
          </p:cNvSpPr>
          <p:nvPr>
            <p:ph idx="1"/>
          </p:nvPr>
        </p:nvSpPr>
        <p:spPr>
          <a:xfrm>
            <a:off x="1031359" y="1037113"/>
            <a:ext cx="10473254" cy="5061683"/>
          </a:xfrm>
          <a:solidFill>
            <a:schemeClr val="accent5">
              <a:lumMod val="60000"/>
              <a:lumOff val="40000"/>
            </a:schemeClr>
          </a:solidFill>
          <a:ln>
            <a:solidFill>
              <a:srgbClr val="7030A0"/>
            </a:solidFill>
          </a:ln>
        </p:spPr>
        <p:txBody>
          <a:bodyPr>
            <a:normAutofit/>
          </a:bodyPr>
          <a:lstStyle/>
          <a:p>
            <a:r>
              <a:rPr lang="fr-SN" dirty="0"/>
              <a:t>Le droit d’auteur a </a:t>
            </a:r>
            <a:r>
              <a:rPr lang="fr-SN" b="1" dirty="0"/>
              <a:t>un caractère dualiste </a:t>
            </a:r>
            <a:r>
              <a:rPr lang="fr-SN" dirty="0"/>
              <a:t>et</a:t>
            </a:r>
            <a:r>
              <a:rPr lang="fr-SN" b="1" dirty="0"/>
              <a:t> </a:t>
            </a:r>
            <a:r>
              <a:rPr lang="fr-SN" dirty="0"/>
              <a:t>comprend des attributs d’ordre </a:t>
            </a:r>
            <a:r>
              <a:rPr lang="fr-SN" b="1" dirty="0"/>
              <a:t>moral</a:t>
            </a:r>
            <a:r>
              <a:rPr lang="fr-SN" dirty="0"/>
              <a:t> ainsi que des attributs d’ordre </a:t>
            </a:r>
            <a:r>
              <a:rPr lang="fr-SN" b="1" dirty="0"/>
              <a:t>patrimonial</a:t>
            </a:r>
            <a:r>
              <a:rPr lang="fr-SN" dirty="0"/>
              <a:t>. Le droit moral protège les intérêts non économiques de l’auteur tandis que les droits patrimoniaux permettent au titulaire de droits de percevoir une rémunération pour l’exploitation de ses œuvres par des tiers.</a:t>
            </a:r>
            <a:endParaRPr lang="fr-FR" dirty="0"/>
          </a:p>
          <a:p>
            <a:r>
              <a:rPr lang="fr-FR" b="1" i="1" dirty="0"/>
              <a:t>Droit moral: le droit de revendiquer la paternité de l’œuvre, le droit à l’intégrité de l’œuvre</a:t>
            </a:r>
            <a:r>
              <a:rPr lang="fr-FR" dirty="0"/>
              <a:t>, </a:t>
            </a:r>
            <a:r>
              <a:rPr lang="fr-FR" b="1" i="1" dirty="0"/>
              <a:t>le droit de repentir</a:t>
            </a:r>
            <a:r>
              <a:rPr lang="fr-FR" dirty="0"/>
              <a:t> </a:t>
            </a:r>
          </a:p>
          <a:p>
            <a:r>
              <a:rPr lang="fr-FR" b="1" i="1" dirty="0"/>
              <a:t>Droits patrimoniaux: le droit de reproduction</a:t>
            </a:r>
            <a:r>
              <a:rPr lang="fr-FR" i="1" dirty="0"/>
              <a:t>, </a:t>
            </a:r>
            <a:r>
              <a:rPr lang="fr-FR" b="1" i="1" dirty="0"/>
              <a:t>le droit de communication au public</a:t>
            </a:r>
            <a:r>
              <a:rPr lang="fr-FR" i="1" dirty="0"/>
              <a:t>, </a:t>
            </a:r>
            <a:r>
              <a:rPr lang="fr-FR" b="1" i="1" dirty="0"/>
              <a:t>le droit de distribution</a:t>
            </a:r>
            <a:r>
              <a:rPr lang="fr-FR" i="1" dirty="0"/>
              <a:t>, </a:t>
            </a:r>
            <a:r>
              <a:rPr lang="fr-FR" b="1" i="1" dirty="0"/>
              <a:t>le droit de location</a:t>
            </a:r>
            <a:r>
              <a:rPr lang="fr-FR" i="1" dirty="0"/>
              <a:t> </a:t>
            </a:r>
          </a:p>
          <a:p>
            <a:pPr marL="0" indent="0" algn="just">
              <a:lnSpc>
                <a:spcPct val="120000"/>
              </a:lnSpc>
              <a:buNone/>
            </a:pPr>
            <a:endParaRPr lang="fr-FR" dirty="0">
              <a:solidFill>
                <a:schemeClr val="tx2"/>
              </a:solidFill>
            </a:endParaRPr>
          </a:p>
          <a:p>
            <a:endParaRPr lang="fr-FR" dirty="0"/>
          </a:p>
        </p:txBody>
      </p:sp>
    </p:spTree>
    <p:extLst>
      <p:ext uri="{BB962C8B-B14F-4D97-AF65-F5344CB8AC3E}">
        <p14:creationId xmlns:p14="http://schemas.microsoft.com/office/powerpoint/2010/main" val="2610099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73343" y="236229"/>
            <a:ext cx="7777655" cy="430521"/>
          </a:xfrm>
          <a:solidFill>
            <a:schemeClr val="accent4">
              <a:lumMod val="40000"/>
              <a:lumOff val="60000"/>
            </a:schemeClr>
          </a:solidFill>
          <a:ln>
            <a:solidFill>
              <a:schemeClr val="accent2">
                <a:lumMod val="50000"/>
              </a:schemeClr>
            </a:solidFill>
          </a:ln>
        </p:spPr>
        <p:txBody>
          <a:bodyPr>
            <a:normAutofit fontScale="90000"/>
          </a:bodyPr>
          <a:lstStyle/>
          <a:p>
            <a:r>
              <a:rPr lang="fr-FR" b="1" u="sng" dirty="0"/>
              <a:t>Récapitulatif des composantes</a:t>
            </a:r>
            <a:endParaRPr lang="fr-FR" dirty="0"/>
          </a:p>
        </p:txBody>
      </p:sp>
      <p:sp>
        <p:nvSpPr>
          <p:cNvPr id="3" name="Espace réservé du contenu 2"/>
          <p:cNvSpPr>
            <a:spLocks noGrp="1"/>
          </p:cNvSpPr>
          <p:nvPr>
            <p:ph idx="1"/>
          </p:nvPr>
        </p:nvSpPr>
        <p:spPr>
          <a:xfrm>
            <a:off x="964734" y="800564"/>
            <a:ext cx="10794874" cy="5256872"/>
          </a:xfrm>
          <a:solidFill>
            <a:schemeClr val="accent4">
              <a:lumMod val="40000"/>
              <a:lumOff val="60000"/>
            </a:schemeClr>
          </a:solidFill>
          <a:ln>
            <a:solidFill>
              <a:srgbClr val="7030A0"/>
            </a:solidFill>
          </a:ln>
        </p:spPr>
        <p:txBody>
          <a:bodyPr>
            <a:normAutofit/>
          </a:bodyPr>
          <a:lstStyle/>
          <a:p>
            <a:pPr marL="0" indent="0">
              <a:buNone/>
            </a:pPr>
            <a:endParaRPr lang="fr-FR" dirty="0"/>
          </a:p>
          <a:p>
            <a:endParaRPr lang="fr-FR" dirty="0"/>
          </a:p>
          <a:p>
            <a:pPr marL="0" indent="0">
              <a:buNone/>
            </a:pPr>
            <a:endParaRPr lang="fr-FR" dirty="0"/>
          </a:p>
        </p:txBody>
      </p:sp>
      <p:graphicFrame>
        <p:nvGraphicFramePr>
          <p:cNvPr id="4" name="Tableau 3"/>
          <p:cNvGraphicFramePr>
            <a:graphicFrameLocks noGrp="1"/>
          </p:cNvGraphicFramePr>
          <p:nvPr>
            <p:extLst>
              <p:ext uri="{D42A27DB-BD31-4B8C-83A1-F6EECF244321}">
                <p14:modId xmlns:p14="http://schemas.microsoft.com/office/powerpoint/2010/main" val="700615371"/>
              </p:ext>
            </p:extLst>
          </p:nvPr>
        </p:nvGraphicFramePr>
        <p:xfrm>
          <a:off x="964734" y="800565"/>
          <a:ext cx="10794874" cy="5298703"/>
        </p:xfrm>
        <a:graphic>
          <a:graphicData uri="http://schemas.openxmlformats.org/drawingml/2006/table">
            <a:tbl>
              <a:tblPr firstRow="1" firstCol="1" bandRow="1">
                <a:tableStyleId>{7DF18680-E054-41AD-8BC1-D1AEF772440D}</a:tableStyleId>
              </a:tblPr>
              <a:tblGrid>
                <a:gridCol w="3287004">
                  <a:extLst>
                    <a:ext uri="{9D8B030D-6E8A-4147-A177-3AD203B41FA5}">
                      <a16:colId xmlns:a16="http://schemas.microsoft.com/office/drawing/2014/main" val="2207327857"/>
                    </a:ext>
                  </a:extLst>
                </a:gridCol>
                <a:gridCol w="3288096">
                  <a:extLst>
                    <a:ext uri="{9D8B030D-6E8A-4147-A177-3AD203B41FA5}">
                      <a16:colId xmlns:a16="http://schemas.microsoft.com/office/drawing/2014/main" val="1875682703"/>
                    </a:ext>
                  </a:extLst>
                </a:gridCol>
                <a:gridCol w="4219774">
                  <a:extLst>
                    <a:ext uri="{9D8B030D-6E8A-4147-A177-3AD203B41FA5}">
                      <a16:colId xmlns:a16="http://schemas.microsoft.com/office/drawing/2014/main" val="1219902345"/>
                    </a:ext>
                  </a:extLst>
                </a:gridCol>
              </a:tblGrid>
              <a:tr h="128855">
                <a:tc>
                  <a:txBody>
                    <a:bodyPr/>
                    <a:lstStyle/>
                    <a:p>
                      <a:pPr algn="just">
                        <a:lnSpc>
                          <a:spcPct val="107000"/>
                        </a:lnSpc>
                        <a:spcAft>
                          <a:spcPts val="0"/>
                        </a:spcAft>
                      </a:pPr>
                      <a:r>
                        <a:rPr lang="fr-FR" sz="1000">
                          <a:effectLst/>
                        </a:rPr>
                        <a:t> </a:t>
                      </a:r>
                      <a:endParaRPr lang="fr-FR" sz="100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gn="just">
                        <a:lnSpc>
                          <a:spcPct val="107000"/>
                        </a:lnSpc>
                        <a:spcAft>
                          <a:spcPts val="0"/>
                        </a:spcAft>
                      </a:pPr>
                      <a:r>
                        <a:rPr lang="fr-FR" sz="1100" dirty="0">
                          <a:effectLst/>
                        </a:rPr>
                        <a:t>Droit Moral</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gn="just">
                        <a:lnSpc>
                          <a:spcPct val="107000"/>
                        </a:lnSpc>
                        <a:spcAft>
                          <a:spcPts val="0"/>
                        </a:spcAft>
                      </a:pPr>
                      <a:r>
                        <a:rPr lang="fr-FR" sz="1100" dirty="0">
                          <a:effectLst/>
                        </a:rPr>
                        <a:t>Droit patrimonial</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extLst>
                  <a:ext uri="{0D108BD9-81ED-4DB2-BD59-A6C34878D82A}">
                    <a16:rowId xmlns:a16="http://schemas.microsoft.com/office/drawing/2014/main" val="1010255756"/>
                  </a:ext>
                </a:extLst>
              </a:tr>
              <a:tr h="386567">
                <a:tc>
                  <a:txBody>
                    <a:bodyPr/>
                    <a:lstStyle/>
                    <a:p>
                      <a:pPr algn="just">
                        <a:lnSpc>
                          <a:spcPct val="107000"/>
                        </a:lnSpc>
                        <a:spcAft>
                          <a:spcPts val="0"/>
                        </a:spcAft>
                      </a:pPr>
                      <a:r>
                        <a:rPr lang="fr-FR" sz="1000">
                          <a:effectLst/>
                        </a:rPr>
                        <a:t>C’est quoi ?</a:t>
                      </a:r>
                      <a:endParaRPr lang="fr-FR" sz="100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gn="just">
                        <a:lnSpc>
                          <a:spcPct val="107000"/>
                        </a:lnSpc>
                        <a:spcAft>
                          <a:spcPts val="0"/>
                        </a:spcAft>
                      </a:pPr>
                      <a:r>
                        <a:rPr lang="fr-FR" sz="1000" dirty="0">
                          <a:effectLst/>
                        </a:rPr>
                        <a:t>C’est l’expression du lien entre l’œuvre et son auteur</a:t>
                      </a:r>
                      <a:endParaRPr lang="fr-F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gn="just">
                        <a:lnSpc>
                          <a:spcPct val="107000"/>
                        </a:lnSpc>
                        <a:spcAft>
                          <a:spcPts val="0"/>
                        </a:spcAft>
                      </a:pPr>
                      <a:r>
                        <a:rPr lang="fr-FR" sz="1000" dirty="0">
                          <a:effectLst/>
                        </a:rPr>
                        <a:t>Droit exclusif d'exploiter son œuvre sous quelque forme que ce soit et d'en tirer un profit pécuniaire</a:t>
                      </a:r>
                      <a:endParaRPr lang="fr-F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extLst>
                  <a:ext uri="{0D108BD9-81ED-4DB2-BD59-A6C34878D82A}">
                    <a16:rowId xmlns:a16="http://schemas.microsoft.com/office/drawing/2014/main" val="1019273372"/>
                  </a:ext>
                </a:extLst>
              </a:tr>
              <a:tr h="257712">
                <a:tc>
                  <a:txBody>
                    <a:bodyPr/>
                    <a:lstStyle/>
                    <a:p>
                      <a:pPr algn="just">
                        <a:lnSpc>
                          <a:spcPct val="107000"/>
                        </a:lnSpc>
                        <a:spcAft>
                          <a:spcPts val="0"/>
                        </a:spcAft>
                      </a:pPr>
                      <a:r>
                        <a:rPr lang="fr-FR" sz="1000">
                          <a:effectLst/>
                        </a:rPr>
                        <a:t>Quelle est la durée ?</a:t>
                      </a:r>
                      <a:endParaRPr lang="fr-FR" sz="100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gn="just">
                        <a:lnSpc>
                          <a:spcPct val="107000"/>
                        </a:lnSpc>
                        <a:spcAft>
                          <a:spcPts val="0"/>
                        </a:spcAft>
                      </a:pPr>
                      <a:r>
                        <a:rPr lang="fr-FR" sz="1000">
                          <a:effectLst/>
                        </a:rPr>
                        <a:t>Perpétuel</a:t>
                      </a:r>
                      <a:endParaRPr lang="fr-FR" sz="100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gn="just">
                        <a:lnSpc>
                          <a:spcPct val="107000"/>
                        </a:lnSpc>
                        <a:spcAft>
                          <a:spcPts val="0"/>
                        </a:spcAft>
                      </a:pPr>
                      <a:r>
                        <a:rPr lang="fr-FR" sz="1000">
                          <a:effectLst/>
                        </a:rPr>
                        <a:t>Durant la vie de l’auteur et 70 ans après sa mort</a:t>
                      </a:r>
                      <a:endParaRPr lang="fr-FR" sz="100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extLst>
                  <a:ext uri="{0D108BD9-81ED-4DB2-BD59-A6C34878D82A}">
                    <a16:rowId xmlns:a16="http://schemas.microsoft.com/office/drawing/2014/main" val="4237034580"/>
                  </a:ext>
                </a:extLst>
              </a:tr>
              <a:tr h="257712">
                <a:tc>
                  <a:txBody>
                    <a:bodyPr/>
                    <a:lstStyle/>
                    <a:p>
                      <a:pPr>
                        <a:lnSpc>
                          <a:spcPct val="107000"/>
                        </a:lnSpc>
                        <a:spcAft>
                          <a:spcPts val="0"/>
                        </a:spcAft>
                      </a:pPr>
                      <a:r>
                        <a:rPr lang="fr-FR" sz="1000">
                          <a:effectLst/>
                        </a:rPr>
                        <a:t>Est-ce qu’il est transmissible ?</a:t>
                      </a:r>
                      <a:endParaRPr lang="fr-FR" sz="100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gn="just">
                        <a:lnSpc>
                          <a:spcPct val="107000"/>
                        </a:lnSpc>
                        <a:spcAft>
                          <a:spcPts val="0"/>
                        </a:spcAft>
                      </a:pPr>
                      <a:r>
                        <a:rPr lang="fr-FR" sz="1000">
                          <a:effectLst/>
                        </a:rPr>
                        <a:t>Transmissible aux héritiers et légataires</a:t>
                      </a:r>
                      <a:endParaRPr lang="fr-FR" sz="100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gn="just">
                        <a:lnSpc>
                          <a:spcPct val="107000"/>
                        </a:lnSpc>
                        <a:spcAft>
                          <a:spcPts val="0"/>
                        </a:spcAft>
                      </a:pPr>
                      <a:r>
                        <a:rPr lang="fr-FR" sz="1000">
                          <a:effectLst/>
                        </a:rPr>
                        <a:t>Transmissible aux héritiers et légataires</a:t>
                      </a:r>
                      <a:endParaRPr lang="fr-FR" sz="100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extLst>
                  <a:ext uri="{0D108BD9-81ED-4DB2-BD59-A6C34878D82A}">
                    <a16:rowId xmlns:a16="http://schemas.microsoft.com/office/drawing/2014/main" val="764947228"/>
                  </a:ext>
                </a:extLst>
              </a:tr>
              <a:tr h="360347">
                <a:tc>
                  <a:txBody>
                    <a:bodyPr/>
                    <a:lstStyle/>
                    <a:p>
                      <a:pPr algn="just">
                        <a:lnSpc>
                          <a:spcPct val="107000"/>
                        </a:lnSpc>
                        <a:spcAft>
                          <a:spcPts val="0"/>
                        </a:spcAft>
                      </a:pPr>
                      <a:r>
                        <a:rPr lang="fr-FR" sz="1000">
                          <a:effectLst/>
                        </a:rPr>
                        <a:t>Est-ce qu’il est cessible ?</a:t>
                      </a:r>
                      <a:endParaRPr lang="fr-FR" sz="100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gn="just">
                        <a:lnSpc>
                          <a:spcPct val="107000"/>
                        </a:lnSpc>
                        <a:spcAft>
                          <a:spcPts val="0"/>
                        </a:spcAft>
                      </a:pPr>
                      <a:r>
                        <a:rPr lang="fr-FR" sz="1000" dirty="0">
                          <a:effectLst/>
                        </a:rPr>
                        <a:t>Non, subsiste même après la cession des droits patrimoniaux</a:t>
                      </a:r>
                      <a:endParaRPr lang="fr-F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gn="just">
                        <a:lnSpc>
                          <a:spcPct val="107000"/>
                        </a:lnSpc>
                        <a:spcAft>
                          <a:spcPts val="0"/>
                        </a:spcAft>
                      </a:pPr>
                      <a:r>
                        <a:rPr lang="fr-FR" sz="1000" dirty="0">
                          <a:effectLst/>
                        </a:rPr>
                        <a:t>Oui, </a:t>
                      </a:r>
                      <a:endParaRPr lang="fr-F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extLst>
                  <a:ext uri="{0D108BD9-81ED-4DB2-BD59-A6C34878D82A}">
                    <a16:rowId xmlns:a16="http://schemas.microsoft.com/office/drawing/2014/main" val="3497041460"/>
                  </a:ext>
                </a:extLst>
              </a:tr>
              <a:tr h="3865677">
                <a:tc>
                  <a:txBody>
                    <a:bodyPr/>
                    <a:lstStyle/>
                    <a:p>
                      <a:pPr algn="ctr">
                        <a:lnSpc>
                          <a:spcPct val="107000"/>
                        </a:lnSpc>
                        <a:spcAft>
                          <a:spcPts val="0"/>
                        </a:spcAft>
                      </a:pPr>
                      <a:r>
                        <a:rPr lang="fr-FR" sz="1000">
                          <a:effectLst/>
                        </a:rPr>
                        <a:t> </a:t>
                      </a:r>
                    </a:p>
                    <a:p>
                      <a:pPr algn="ctr">
                        <a:lnSpc>
                          <a:spcPct val="107000"/>
                        </a:lnSpc>
                        <a:spcAft>
                          <a:spcPts val="0"/>
                        </a:spcAft>
                      </a:pPr>
                      <a:r>
                        <a:rPr lang="fr-FR" sz="1000">
                          <a:effectLst/>
                        </a:rPr>
                        <a:t> </a:t>
                      </a:r>
                    </a:p>
                    <a:p>
                      <a:pPr algn="ctr">
                        <a:lnSpc>
                          <a:spcPct val="107000"/>
                        </a:lnSpc>
                        <a:spcAft>
                          <a:spcPts val="0"/>
                        </a:spcAft>
                      </a:pPr>
                      <a:r>
                        <a:rPr lang="fr-FR" sz="1000">
                          <a:effectLst/>
                        </a:rPr>
                        <a:t> </a:t>
                      </a:r>
                    </a:p>
                    <a:p>
                      <a:pPr>
                        <a:lnSpc>
                          <a:spcPct val="107000"/>
                        </a:lnSpc>
                        <a:spcAft>
                          <a:spcPts val="0"/>
                        </a:spcAft>
                      </a:pPr>
                      <a:r>
                        <a:rPr lang="fr-FR" sz="1000">
                          <a:effectLst/>
                        </a:rPr>
                        <a:t> </a:t>
                      </a:r>
                    </a:p>
                    <a:p>
                      <a:pPr algn="ctr">
                        <a:lnSpc>
                          <a:spcPct val="107000"/>
                        </a:lnSpc>
                        <a:spcAft>
                          <a:spcPts val="0"/>
                        </a:spcAft>
                      </a:pPr>
                      <a:r>
                        <a:rPr lang="fr-FR" sz="1000">
                          <a:effectLst/>
                        </a:rPr>
                        <a:t> </a:t>
                      </a:r>
                    </a:p>
                    <a:p>
                      <a:pPr>
                        <a:lnSpc>
                          <a:spcPct val="107000"/>
                        </a:lnSpc>
                        <a:spcAft>
                          <a:spcPts val="0"/>
                        </a:spcAft>
                      </a:pPr>
                      <a:r>
                        <a:rPr lang="fr-FR" sz="1000">
                          <a:effectLst/>
                        </a:rPr>
                        <a:t>Il est composé de quoi ?</a:t>
                      </a:r>
                      <a:endParaRPr lang="fr-FR" sz="100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gn="just">
                        <a:lnSpc>
                          <a:spcPct val="107000"/>
                        </a:lnSpc>
                        <a:spcAft>
                          <a:spcPts val="0"/>
                        </a:spcAft>
                      </a:pPr>
                      <a:r>
                        <a:rPr lang="fr-FR" sz="1000" dirty="0">
                          <a:effectLst/>
                        </a:rPr>
                        <a:t>- un droit de divulgation. – L'auteur a seul le droit de divulguer son œuvre.</a:t>
                      </a:r>
                    </a:p>
                    <a:p>
                      <a:pPr algn="just">
                        <a:lnSpc>
                          <a:spcPct val="107000"/>
                        </a:lnSpc>
                        <a:spcAft>
                          <a:spcPts val="0"/>
                        </a:spcAft>
                      </a:pPr>
                      <a:r>
                        <a:rPr lang="fr-FR" sz="1000" dirty="0">
                          <a:effectLst/>
                        </a:rPr>
                        <a:t> </a:t>
                      </a:r>
                    </a:p>
                    <a:p>
                      <a:pPr algn="just">
                        <a:lnSpc>
                          <a:spcPct val="107000"/>
                        </a:lnSpc>
                        <a:spcAft>
                          <a:spcPts val="0"/>
                        </a:spcAft>
                      </a:pPr>
                      <a:r>
                        <a:rPr lang="fr-FR" sz="1000" dirty="0">
                          <a:effectLst/>
                        </a:rPr>
                        <a:t>- un droit de repentir : L’auteur peut regretter d’avoir rendu publique une de ses œuvres. La loi lui reconnaît le droit de revenir sur sa décision, même s’il a cédé ses droits d’exploitation. </a:t>
                      </a:r>
                    </a:p>
                    <a:p>
                      <a:pPr algn="just">
                        <a:lnSpc>
                          <a:spcPct val="107000"/>
                        </a:lnSpc>
                        <a:spcAft>
                          <a:spcPts val="0"/>
                        </a:spcAft>
                      </a:pPr>
                      <a:r>
                        <a:rPr lang="fr-FR" sz="1000" dirty="0">
                          <a:effectLst/>
                        </a:rPr>
                        <a:t> </a:t>
                      </a:r>
                    </a:p>
                    <a:p>
                      <a:pPr algn="just">
                        <a:lnSpc>
                          <a:spcPct val="107000"/>
                        </a:lnSpc>
                        <a:spcAft>
                          <a:spcPts val="0"/>
                        </a:spcAft>
                      </a:pPr>
                      <a:r>
                        <a:rPr lang="fr-FR" sz="1000" dirty="0">
                          <a:effectLst/>
                        </a:rPr>
                        <a:t> </a:t>
                      </a:r>
                    </a:p>
                    <a:p>
                      <a:pPr algn="just">
                        <a:lnSpc>
                          <a:spcPct val="107000"/>
                        </a:lnSpc>
                        <a:spcAft>
                          <a:spcPts val="0"/>
                        </a:spcAft>
                      </a:pPr>
                      <a:r>
                        <a:rPr lang="fr-FR" sz="1000" dirty="0">
                          <a:effectLst/>
                        </a:rPr>
                        <a:t>- un droit à la paternité. – L’auteur a le droit d’exiger que, pour toute exploitation de ses œuvres, son nom (ou éventuellement son pseudonyme) soit mentionné. </a:t>
                      </a:r>
                    </a:p>
                    <a:p>
                      <a:pPr algn="just">
                        <a:lnSpc>
                          <a:spcPct val="107000"/>
                        </a:lnSpc>
                        <a:spcAft>
                          <a:spcPts val="0"/>
                        </a:spcAft>
                      </a:pPr>
                      <a:r>
                        <a:rPr lang="fr-FR" sz="1000" dirty="0">
                          <a:effectLst/>
                        </a:rPr>
                        <a:t> </a:t>
                      </a:r>
                    </a:p>
                    <a:p>
                      <a:pPr algn="just">
                        <a:lnSpc>
                          <a:spcPct val="107000"/>
                        </a:lnSpc>
                        <a:spcAft>
                          <a:spcPts val="0"/>
                        </a:spcAft>
                      </a:pPr>
                      <a:r>
                        <a:rPr lang="fr-FR" sz="1000" dirty="0">
                          <a:effectLst/>
                        </a:rPr>
                        <a:t> </a:t>
                      </a:r>
                    </a:p>
                    <a:p>
                      <a:pPr algn="just">
                        <a:lnSpc>
                          <a:spcPct val="107000"/>
                        </a:lnSpc>
                        <a:spcAft>
                          <a:spcPts val="0"/>
                        </a:spcAft>
                      </a:pPr>
                      <a:r>
                        <a:rPr lang="fr-FR" sz="1000" dirty="0">
                          <a:effectLst/>
                        </a:rPr>
                        <a:t>- un droit au respect de l’œuvre. – L’auteur a le droit de s’opposer aux atteintes portées à l’intégrité de son œuvre (modification, colorisation, destruction, démantèlement, agrégation à d’autres éléments...).</a:t>
                      </a:r>
                    </a:p>
                    <a:p>
                      <a:pPr algn="just">
                        <a:lnSpc>
                          <a:spcPct val="107000"/>
                        </a:lnSpc>
                        <a:spcAft>
                          <a:spcPts val="0"/>
                        </a:spcAft>
                      </a:pPr>
                      <a:r>
                        <a:rPr lang="fr-FR" sz="1000" dirty="0">
                          <a:effectLst/>
                        </a:rPr>
                        <a:t> </a:t>
                      </a:r>
                      <a:endParaRPr lang="fr-F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tc>
                  <a:txBody>
                    <a:bodyPr/>
                    <a:lstStyle/>
                    <a:p>
                      <a:pPr>
                        <a:lnSpc>
                          <a:spcPct val="107000"/>
                        </a:lnSpc>
                        <a:spcAft>
                          <a:spcPts val="0"/>
                        </a:spcAft>
                      </a:pPr>
                      <a:r>
                        <a:rPr lang="fr-FR" sz="1000" dirty="0">
                          <a:effectLst/>
                        </a:rPr>
                        <a:t>- un droit de communication au public. – L’auteur a le droit exclusif d’autoriser la communication de son œuvre au public par tout procédé.</a:t>
                      </a:r>
                    </a:p>
                    <a:p>
                      <a:pPr algn="just">
                        <a:lnSpc>
                          <a:spcPct val="107000"/>
                        </a:lnSpc>
                        <a:spcAft>
                          <a:spcPts val="0"/>
                        </a:spcAft>
                      </a:pPr>
                      <a:r>
                        <a:rPr lang="fr-FR" sz="1000" dirty="0">
                          <a:effectLst/>
                        </a:rPr>
                        <a:t>Ce droit de communication au public a des exceptions: communication dans le cercle de famille; communication au cours d’un service religieux.</a:t>
                      </a:r>
                    </a:p>
                    <a:p>
                      <a:pPr algn="just">
                        <a:lnSpc>
                          <a:spcPct val="107000"/>
                        </a:lnSpc>
                        <a:spcAft>
                          <a:spcPts val="0"/>
                        </a:spcAft>
                      </a:pPr>
                      <a:r>
                        <a:rPr lang="fr-FR" sz="1000" dirty="0">
                          <a:effectLst/>
                        </a:rPr>
                        <a:t> </a:t>
                      </a:r>
                    </a:p>
                    <a:p>
                      <a:pPr algn="just">
                        <a:lnSpc>
                          <a:spcPct val="107000"/>
                        </a:lnSpc>
                        <a:spcAft>
                          <a:spcPts val="0"/>
                        </a:spcAft>
                      </a:pPr>
                      <a:r>
                        <a:rPr lang="fr-FR" sz="1000" dirty="0">
                          <a:effectLst/>
                        </a:rPr>
                        <a:t>- un droit de reproduction. – L’auteur a le droit exclusif d’autoriser la fixation de son œuvre, par un procédé quelconque, sous une forme matérielle permettant de la communiquer au public.</a:t>
                      </a:r>
                    </a:p>
                    <a:p>
                      <a:pPr algn="just">
                        <a:lnSpc>
                          <a:spcPct val="107000"/>
                        </a:lnSpc>
                        <a:spcAft>
                          <a:spcPts val="0"/>
                        </a:spcAft>
                      </a:pPr>
                      <a:r>
                        <a:rPr lang="fr-FR" sz="1000" dirty="0">
                          <a:effectLst/>
                        </a:rPr>
                        <a:t>Ce droit de reproduction a des exceptions: -Reproduction à usage privé. </a:t>
                      </a:r>
                    </a:p>
                    <a:p>
                      <a:pPr algn="just">
                        <a:lnSpc>
                          <a:spcPct val="107000"/>
                        </a:lnSpc>
                        <a:spcAft>
                          <a:spcPts val="0"/>
                        </a:spcAft>
                      </a:pPr>
                      <a:r>
                        <a:rPr lang="fr-FR" sz="1000" dirty="0">
                          <a:effectLst/>
                        </a:rPr>
                        <a:t> </a:t>
                      </a:r>
                    </a:p>
                    <a:p>
                      <a:pPr algn="just">
                        <a:lnSpc>
                          <a:spcPct val="107000"/>
                        </a:lnSpc>
                        <a:spcAft>
                          <a:spcPts val="0"/>
                        </a:spcAft>
                      </a:pPr>
                      <a:r>
                        <a:rPr lang="fr-FR" sz="1000" dirty="0">
                          <a:effectLst/>
                        </a:rPr>
                        <a:t>- un droit de distribution: - L’auteur a le droit exclusif d’autoriser la distribution, par la vente ou autrement, des exemplaires matériels de son œuvre.</a:t>
                      </a:r>
                    </a:p>
                    <a:p>
                      <a:pPr algn="just">
                        <a:lnSpc>
                          <a:spcPct val="107000"/>
                        </a:lnSpc>
                        <a:spcAft>
                          <a:spcPts val="0"/>
                        </a:spcAft>
                      </a:pPr>
                      <a:r>
                        <a:rPr lang="fr-FR" sz="1000" dirty="0">
                          <a:effectLst/>
                        </a:rPr>
                        <a:t> </a:t>
                      </a:r>
                    </a:p>
                    <a:p>
                      <a:pPr algn="just">
                        <a:lnSpc>
                          <a:spcPct val="107000"/>
                        </a:lnSpc>
                        <a:spcAft>
                          <a:spcPts val="0"/>
                        </a:spcAft>
                      </a:pPr>
                      <a:r>
                        <a:rPr lang="fr-FR" sz="1000" dirty="0">
                          <a:effectLst/>
                        </a:rPr>
                        <a:t>- un droit de location. – L’auteur a le droit exclusif d’autoriser la location des exemplaires de son œuvre. La location s’entend de la mise à disposition pour l’usage, pour un temps limité et pour un avantage économique ou commercial direct ou indirect.</a:t>
                      </a:r>
                    </a:p>
                    <a:p>
                      <a:pPr algn="just">
                        <a:lnSpc>
                          <a:spcPct val="107000"/>
                        </a:lnSpc>
                        <a:spcAft>
                          <a:spcPts val="0"/>
                        </a:spcAft>
                      </a:pPr>
                      <a:r>
                        <a:rPr lang="fr-FR" sz="1000" dirty="0">
                          <a:effectLst/>
                        </a:rPr>
                        <a:t> </a:t>
                      </a:r>
                      <a:endParaRPr lang="fr-F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970" marR="32970" marT="0" marB="0"/>
                </a:tc>
                <a:extLst>
                  <a:ext uri="{0D108BD9-81ED-4DB2-BD59-A6C34878D82A}">
                    <a16:rowId xmlns:a16="http://schemas.microsoft.com/office/drawing/2014/main" val="3855744467"/>
                  </a:ext>
                </a:extLst>
              </a:tr>
            </a:tbl>
          </a:graphicData>
        </a:graphic>
      </p:graphicFrame>
    </p:spTree>
    <p:extLst>
      <p:ext uri="{BB962C8B-B14F-4D97-AF65-F5344CB8AC3E}">
        <p14:creationId xmlns:p14="http://schemas.microsoft.com/office/powerpoint/2010/main" val="8813407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64525" y="278503"/>
            <a:ext cx="7556938" cy="520284"/>
          </a:xfrm>
          <a:solidFill>
            <a:schemeClr val="bg2">
              <a:lumMod val="75000"/>
            </a:schemeClr>
          </a:solidFill>
          <a:ln>
            <a:solidFill>
              <a:schemeClr val="accent1">
                <a:lumMod val="50000"/>
              </a:schemeClr>
            </a:solidFill>
          </a:ln>
        </p:spPr>
        <p:txBody>
          <a:bodyPr>
            <a:noAutofit/>
          </a:bodyPr>
          <a:lstStyle/>
          <a:p>
            <a:r>
              <a:rPr lang="fr-FR" sz="2000" b="1" u="sng" dirty="0"/>
              <a:t>TITRE 2</a:t>
            </a:r>
            <a:r>
              <a:rPr lang="fr-FR" sz="2000" b="1" dirty="0"/>
              <a:t> : LES DROITS VOISINS OU DROITS CONNEXES</a:t>
            </a:r>
            <a:endParaRPr lang="fr-FR" sz="2000" dirty="0"/>
          </a:p>
        </p:txBody>
      </p:sp>
      <p:sp>
        <p:nvSpPr>
          <p:cNvPr id="3" name="Espace réservé du contenu 2"/>
          <p:cNvSpPr>
            <a:spLocks noGrp="1"/>
          </p:cNvSpPr>
          <p:nvPr>
            <p:ph idx="1"/>
          </p:nvPr>
        </p:nvSpPr>
        <p:spPr>
          <a:xfrm>
            <a:off x="1184887" y="972830"/>
            <a:ext cx="10197509" cy="4983354"/>
          </a:xfrm>
          <a:solidFill>
            <a:schemeClr val="bg2">
              <a:lumMod val="90000"/>
            </a:schemeClr>
          </a:solidFill>
          <a:ln>
            <a:solidFill>
              <a:srgbClr val="7030A0"/>
            </a:solidFill>
          </a:ln>
        </p:spPr>
        <p:txBody>
          <a:bodyPr>
            <a:normAutofit/>
          </a:bodyPr>
          <a:lstStyle/>
          <a:p>
            <a:r>
              <a:rPr lang="fr-FR" dirty="0"/>
              <a:t>  </a:t>
            </a:r>
            <a:r>
              <a:rPr lang="fr-SN" dirty="0"/>
              <a:t>Ils sont appelés ainsi parce que considérés comme « voisins du droit d’auteur ». Ce sont des droits reconnus aux artistes-interprètes, aux producteurs de phonogrammes et de vidéogrammes, ainsi qu’aux organismes de radio et télédiffusion.</a:t>
            </a:r>
            <a:endParaRPr lang="fr-FR" dirty="0"/>
          </a:p>
          <a:p>
            <a:endParaRPr lang="fr-FR" dirty="0"/>
          </a:p>
          <a:p>
            <a:pPr marL="0" indent="0" algn="just">
              <a:buNone/>
            </a:pPr>
            <a:endParaRPr lang="fr-FR" sz="2000" dirty="0">
              <a:solidFill>
                <a:schemeClr val="tx1"/>
              </a:solidFill>
            </a:endParaRPr>
          </a:p>
          <a:p>
            <a:pPr algn="just"/>
            <a:endParaRPr lang="fr-FR" dirty="0"/>
          </a:p>
        </p:txBody>
      </p:sp>
    </p:spTree>
    <p:extLst>
      <p:ext uri="{BB962C8B-B14F-4D97-AF65-F5344CB8AC3E}">
        <p14:creationId xmlns:p14="http://schemas.microsoft.com/office/powerpoint/2010/main" val="17861165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05277" y="241760"/>
            <a:ext cx="6547946" cy="415465"/>
          </a:xfrm>
          <a:solidFill>
            <a:schemeClr val="accent6">
              <a:lumMod val="60000"/>
              <a:lumOff val="40000"/>
            </a:schemeClr>
          </a:solidFill>
          <a:ln>
            <a:solidFill>
              <a:schemeClr val="accent6"/>
            </a:solidFill>
          </a:ln>
        </p:spPr>
        <p:txBody>
          <a:bodyPr>
            <a:normAutofit fontScale="90000"/>
          </a:bodyPr>
          <a:lstStyle/>
          <a:p>
            <a:r>
              <a:rPr lang="fr-SN" b="1" dirty="0"/>
              <a:t> </a:t>
            </a:r>
            <a:r>
              <a:rPr lang="fr-FR" sz="1800" b="1" u="sng" dirty="0"/>
              <a:t>Chapitre 1</a:t>
            </a:r>
            <a:r>
              <a:rPr lang="fr-FR" sz="1800" dirty="0"/>
              <a:t> </a:t>
            </a:r>
            <a:r>
              <a:rPr lang="fr-FR" sz="1800" b="1" dirty="0"/>
              <a:t>LES GRANDS PRINCIPES DES DROITS VOISINS</a:t>
            </a:r>
            <a:br>
              <a:rPr lang="fr-FR" dirty="0"/>
            </a:br>
            <a:endParaRPr lang="fr-FR" dirty="0"/>
          </a:p>
        </p:txBody>
      </p:sp>
      <p:sp>
        <p:nvSpPr>
          <p:cNvPr id="3" name="Espace réservé du contenu 2"/>
          <p:cNvSpPr>
            <a:spLocks noGrp="1"/>
          </p:cNvSpPr>
          <p:nvPr>
            <p:ph idx="1"/>
          </p:nvPr>
        </p:nvSpPr>
        <p:spPr>
          <a:xfrm>
            <a:off x="1095641" y="796954"/>
            <a:ext cx="10345480" cy="5305645"/>
          </a:xfrm>
          <a:solidFill>
            <a:schemeClr val="accent5">
              <a:lumMod val="60000"/>
              <a:lumOff val="40000"/>
            </a:schemeClr>
          </a:solidFill>
          <a:ln>
            <a:solidFill>
              <a:srgbClr val="7030A0"/>
            </a:solidFill>
          </a:ln>
        </p:spPr>
        <p:txBody>
          <a:bodyPr>
            <a:normAutofit/>
          </a:bodyPr>
          <a:lstStyle/>
          <a:p>
            <a:pPr marL="0" indent="0" algn="just">
              <a:lnSpc>
                <a:spcPct val="110000"/>
              </a:lnSpc>
              <a:buNone/>
            </a:pPr>
            <a:r>
              <a:rPr lang="fr-FR" dirty="0"/>
              <a:t>Les droits connexes sont des droits qui, à certains égards, ressemblent au droit d’auteur, mais qui servent à protéger une implication différente vis-à-vis de l’œuvre. La finalité des droits connexes est de protéger les intérêts juridiques de certaines personnes physiques et morales qui contribuent à mettre les œuvres à la disposition du public. L’exemple évident est celui dont nous avons déjà traité : lorsqu’un chanteur interprète devant public l’œuvre d’un compositeur, ou lorsque sa prestation fait l’objet d’un enregistrement ou d’une émission radiodiffusée. L’interprétation d’une pièce de théâtre ou d’un ballet est un autre bon exemple.</a:t>
            </a:r>
          </a:p>
          <a:p>
            <a:pPr marL="0" indent="0" algn="just">
              <a:lnSpc>
                <a:spcPct val="110000"/>
              </a:lnSpc>
              <a:buNone/>
            </a:pPr>
            <a:r>
              <a:rPr lang="fr-FR" dirty="0"/>
              <a:t>Les artistes interprètes ou exécutants, les producteurs d’enregistrements sonores et les organismes de radiodiffusion ajoutent notablement à la valeur de l’œuvre, sans avoir nécessairement un droit d’auteur direct sur celle-ci. L’objectif général de ces droits connexes est donc de protéger les personnes ou les organismes dont l’apport créatif, technique ou entrepreneurial au processus consistant à communiquer l’œuvre au public est substantiel.</a:t>
            </a:r>
          </a:p>
          <a:p>
            <a:pPr marL="0" indent="0">
              <a:buNone/>
            </a:pPr>
            <a:endParaRPr lang="fr-FR" sz="1800" dirty="0">
              <a:solidFill>
                <a:schemeClr val="tx1"/>
              </a:solidFill>
            </a:endParaRPr>
          </a:p>
          <a:p>
            <a:pPr marL="0" indent="0">
              <a:buNone/>
            </a:pPr>
            <a:r>
              <a:rPr lang="fr-FR" sz="1800" dirty="0"/>
              <a:t> </a:t>
            </a:r>
            <a:endParaRPr lang="fr-FR" sz="1800" dirty="0">
              <a:solidFill>
                <a:schemeClr val="tx1"/>
              </a:solidFill>
            </a:endParaRPr>
          </a:p>
        </p:txBody>
      </p:sp>
    </p:spTree>
    <p:extLst>
      <p:ext uri="{BB962C8B-B14F-4D97-AF65-F5344CB8AC3E}">
        <p14:creationId xmlns:p14="http://schemas.microsoft.com/office/powerpoint/2010/main" val="39622848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endParaRPr lang="fr-FR" dirty="0"/>
          </a:p>
        </p:txBody>
      </p:sp>
      <p:sp>
        <p:nvSpPr>
          <p:cNvPr id="3" name="Espace réservé du contenu 2"/>
          <p:cNvSpPr>
            <a:spLocks noGrp="1"/>
          </p:cNvSpPr>
          <p:nvPr>
            <p:ph idx="1"/>
          </p:nvPr>
        </p:nvSpPr>
        <p:spPr>
          <a:xfrm>
            <a:off x="1403498" y="804519"/>
            <a:ext cx="10101114" cy="5222500"/>
          </a:xfrm>
          <a:solidFill>
            <a:schemeClr val="accent6">
              <a:lumMod val="60000"/>
              <a:lumOff val="40000"/>
            </a:schemeClr>
          </a:solidFill>
          <a:ln>
            <a:solidFill>
              <a:srgbClr val="7030A0"/>
            </a:solidFill>
          </a:ln>
        </p:spPr>
        <p:txBody>
          <a:bodyPr>
            <a:normAutofit lnSpcReduction="10000"/>
          </a:bodyPr>
          <a:lstStyle/>
          <a:p>
            <a:r>
              <a:rPr lang="fr-FR" dirty="0"/>
              <a:t>Les législations nationales ne s’accordent pas en ce qui concerne l’étendue des droits qui sont conférés aux artistes interprètes ou exécutants, aux producteurs d’enregistrements sonores et aux organismes de radiodiffusion.</a:t>
            </a:r>
          </a:p>
          <a:p>
            <a:r>
              <a:rPr lang="fr-FR" dirty="0"/>
              <a:t>Différents traités internationaux traitent de cette question, tels que </a:t>
            </a:r>
            <a:r>
              <a:rPr lang="fr-FR" b="1" dirty="0"/>
              <a:t>la convention de Rome</a:t>
            </a:r>
            <a:r>
              <a:rPr lang="fr-FR" dirty="0"/>
              <a:t> (1961), </a:t>
            </a:r>
            <a:r>
              <a:rPr lang="fr-FR" b="1" dirty="0"/>
              <a:t>l’accord sur les ADPIC</a:t>
            </a:r>
            <a:r>
              <a:rPr lang="fr-FR" dirty="0"/>
              <a:t> ainsi que les </a:t>
            </a:r>
            <a:r>
              <a:rPr lang="fr-FR" b="1" dirty="0"/>
              <a:t>traités de l’OMPI</a:t>
            </a:r>
            <a:r>
              <a:rPr lang="fr-FR" dirty="0"/>
              <a:t> sur les interprétations et exécutions et les phonogrammes (WPPT).</a:t>
            </a:r>
          </a:p>
          <a:p>
            <a:pPr lvl="0" algn="just"/>
            <a:r>
              <a:rPr lang="fr-FR" dirty="0"/>
              <a:t>En règle générale, les artistes interprètent ou exécutants jouissent de droits patrimoniaux qui leur permettent d’empêcher la fixation, la radiodiffusion et la communication au public de leurs interprétations ou exécutions en direct. </a:t>
            </a:r>
          </a:p>
          <a:p>
            <a:r>
              <a:rPr lang="fr-FR" dirty="0"/>
              <a:t>Les producteurs de phonogrammes et de vidéogrammes jouissent principalement du droit d’autoriser ou d’interdire la reproduction et la distribution de leurs programmes par des tiers.</a:t>
            </a:r>
          </a:p>
          <a:p>
            <a:r>
              <a:rPr lang="fr-FR" dirty="0"/>
              <a:t>Les organismes de radiodiffusion ont droit d’autoriser ou d’interdire la rediffusion, la fixation et la reproduction de leurs émissions.</a:t>
            </a:r>
          </a:p>
          <a:p>
            <a:pPr lvl="0" algn="just"/>
            <a:endParaRPr lang="fr-FR" sz="2000" dirty="0">
              <a:solidFill>
                <a:schemeClr val="tx1"/>
              </a:solidFill>
            </a:endParaRPr>
          </a:p>
        </p:txBody>
      </p:sp>
      <p:sp>
        <p:nvSpPr>
          <p:cNvPr id="4" name="Titre 1">
            <a:extLst>
              <a:ext uri="{FF2B5EF4-FFF2-40B4-BE49-F238E27FC236}">
                <a16:creationId xmlns:a16="http://schemas.microsoft.com/office/drawing/2014/main" id="{4501BE46-AA48-4981-BDFF-52CC98B1558D}"/>
              </a:ext>
            </a:extLst>
          </p:cNvPr>
          <p:cNvSpPr txBox="1">
            <a:spLocks/>
          </p:cNvSpPr>
          <p:nvPr/>
        </p:nvSpPr>
        <p:spPr>
          <a:xfrm>
            <a:off x="1912883" y="135014"/>
            <a:ext cx="8933793" cy="536106"/>
          </a:xfrm>
          <a:prstGeom prst="rect">
            <a:avLst/>
          </a:prstGeom>
          <a:solidFill>
            <a:schemeClr val="accent5">
              <a:lumMod val="60000"/>
              <a:lumOff val="40000"/>
            </a:schemeClr>
          </a:solidFill>
          <a:ln>
            <a:solidFill>
              <a:schemeClr val="accent6"/>
            </a:solidFill>
          </a:ln>
        </p:spPr>
        <p:txBody>
          <a:bodyPr vert="horz" lIns="91440" tIns="45720" rIns="91440" bIns="45720"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sz="1800" b="1" dirty="0">
                <a:solidFill>
                  <a:schemeClr val="accent5">
                    <a:lumMod val="50000"/>
                  </a:schemeClr>
                </a:solidFill>
              </a:rPr>
              <a:t>Chapitre 2 : LES COMPOSANTES ET CARACTERES DES DROITS VOISINS</a:t>
            </a:r>
          </a:p>
        </p:txBody>
      </p:sp>
    </p:spTree>
    <p:extLst>
      <p:ext uri="{BB962C8B-B14F-4D97-AF65-F5344CB8AC3E}">
        <p14:creationId xmlns:p14="http://schemas.microsoft.com/office/powerpoint/2010/main" val="22564289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795752" y="156035"/>
            <a:ext cx="6547946" cy="536105"/>
          </a:xfrm>
          <a:solidFill>
            <a:schemeClr val="accent6">
              <a:lumMod val="60000"/>
              <a:lumOff val="40000"/>
            </a:schemeClr>
          </a:solidFill>
          <a:ln>
            <a:solidFill>
              <a:schemeClr val="accent6"/>
            </a:solidFill>
          </a:ln>
        </p:spPr>
        <p:txBody>
          <a:bodyPr>
            <a:normAutofit/>
          </a:bodyPr>
          <a:lstStyle/>
          <a:p>
            <a:pPr algn="ctr"/>
            <a:r>
              <a:rPr lang="fr-FR" sz="1800" b="1" dirty="0">
                <a:solidFill>
                  <a:schemeClr val="accent5">
                    <a:lumMod val="50000"/>
                  </a:schemeClr>
                </a:solidFill>
              </a:rPr>
              <a:t>RECAPITULATIF DES DROITS VOISINS</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2663963865"/>
              </p:ext>
            </p:extLst>
          </p:nvPr>
        </p:nvGraphicFramePr>
        <p:xfrm>
          <a:off x="1093076" y="830317"/>
          <a:ext cx="9064797" cy="5263576"/>
        </p:xfrm>
        <a:graphic>
          <a:graphicData uri="http://schemas.openxmlformats.org/drawingml/2006/table">
            <a:tbl>
              <a:tblPr firstRow="1" firstCol="1" bandRow="1">
                <a:tableStyleId>{93296810-A885-4BE3-A3E7-6D5BEEA58F35}</a:tableStyleId>
              </a:tblPr>
              <a:tblGrid>
                <a:gridCol w="2215325">
                  <a:extLst>
                    <a:ext uri="{9D8B030D-6E8A-4147-A177-3AD203B41FA5}">
                      <a16:colId xmlns:a16="http://schemas.microsoft.com/office/drawing/2014/main" val="2983319859"/>
                    </a:ext>
                  </a:extLst>
                </a:gridCol>
                <a:gridCol w="3062797">
                  <a:extLst>
                    <a:ext uri="{9D8B030D-6E8A-4147-A177-3AD203B41FA5}">
                      <a16:colId xmlns:a16="http://schemas.microsoft.com/office/drawing/2014/main" val="312848637"/>
                    </a:ext>
                  </a:extLst>
                </a:gridCol>
                <a:gridCol w="3786675">
                  <a:extLst>
                    <a:ext uri="{9D8B030D-6E8A-4147-A177-3AD203B41FA5}">
                      <a16:colId xmlns:a16="http://schemas.microsoft.com/office/drawing/2014/main" val="2772356659"/>
                    </a:ext>
                  </a:extLst>
                </a:gridCol>
              </a:tblGrid>
              <a:tr h="186850">
                <a:tc>
                  <a:txBody>
                    <a:bodyPr/>
                    <a:lstStyle/>
                    <a:p>
                      <a:pPr algn="just">
                        <a:lnSpc>
                          <a:spcPct val="107000"/>
                        </a:lnSpc>
                        <a:spcAft>
                          <a:spcPts val="0"/>
                        </a:spcAft>
                      </a:pPr>
                      <a:r>
                        <a:rPr lang="fr-FR" sz="1200">
                          <a:effectLst/>
                        </a:rPr>
                        <a:t> </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FR" sz="1200">
                          <a:effectLst/>
                        </a:rPr>
                        <a:t>Droit Moral</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FR" sz="1200">
                          <a:effectLst/>
                        </a:rPr>
                        <a:t>Droit patrimonial</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21970422"/>
                  </a:ext>
                </a:extLst>
              </a:tr>
              <a:tr h="186850">
                <a:tc>
                  <a:txBody>
                    <a:bodyPr/>
                    <a:lstStyle/>
                    <a:p>
                      <a:pPr algn="just">
                        <a:lnSpc>
                          <a:spcPct val="107000"/>
                        </a:lnSpc>
                        <a:spcAft>
                          <a:spcPts val="0"/>
                        </a:spcAft>
                      </a:pPr>
                      <a:r>
                        <a:rPr lang="fr-FR" sz="1200">
                          <a:effectLst/>
                        </a:rPr>
                        <a:t>C’est quoi ?</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FR" sz="1200">
                          <a:effectLst/>
                        </a:rPr>
                        <a:t> </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FR" sz="1200">
                          <a:effectLst/>
                        </a:rPr>
                        <a:t> </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8450346"/>
                  </a:ext>
                </a:extLst>
              </a:tr>
              <a:tr h="559269">
                <a:tc>
                  <a:txBody>
                    <a:bodyPr/>
                    <a:lstStyle/>
                    <a:p>
                      <a:pPr algn="just">
                        <a:lnSpc>
                          <a:spcPct val="107000"/>
                        </a:lnSpc>
                        <a:spcAft>
                          <a:spcPts val="0"/>
                        </a:spcAft>
                      </a:pPr>
                      <a:r>
                        <a:rPr lang="fr-FR" sz="1200" dirty="0">
                          <a:effectLst/>
                        </a:rPr>
                        <a:t>Quelle est la durée ?</a:t>
                      </a:r>
                      <a:endParaRPr lang="fr-F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FR" sz="1200">
                          <a:effectLst/>
                        </a:rPr>
                        <a:t>Perpétuel</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FR" sz="1200">
                          <a:effectLst/>
                        </a:rPr>
                        <a:t>50 ans à compter de la fixation, de la première publication, ou de la première communication au public</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99789299"/>
                  </a:ext>
                </a:extLst>
              </a:tr>
              <a:tr h="369783">
                <a:tc>
                  <a:txBody>
                    <a:bodyPr/>
                    <a:lstStyle/>
                    <a:p>
                      <a:pPr algn="just">
                        <a:lnSpc>
                          <a:spcPct val="107000"/>
                        </a:lnSpc>
                        <a:spcAft>
                          <a:spcPts val="0"/>
                        </a:spcAft>
                      </a:pPr>
                      <a:r>
                        <a:rPr lang="fr-FR" sz="1200">
                          <a:effectLst/>
                        </a:rPr>
                        <a:t>Es ce qu’il est transmissible ?</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FR" sz="1200">
                          <a:effectLst/>
                        </a:rPr>
                        <a:t>Transmissible aux héritiers et légataires</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FR" sz="1200">
                          <a:effectLst/>
                        </a:rPr>
                        <a:t>Transmissible aux héritiers et légataires</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4359721"/>
                  </a:ext>
                </a:extLst>
              </a:tr>
              <a:tr h="559269">
                <a:tc>
                  <a:txBody>
                    <a:bodyPr/>
                    <a:lstStyle/>
                    <a:p>
                      <a:pPr algn="just">
                        <a:lnSpc>
                          <a:spcPct val="107000"/>
                        </a:lnSpc>
                        <a:spcAft>
                          <a:spcPts val="0"/>
                        </a:spcAft>
                      </a:pPr>
                      <a:r>
                        <a:rPr lang="fr-FR" sz="1200">
                          <a:effectLst/>
                        </a:rPr>
                        <a:t>Cessible</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fr-FR" sz="1200">
                          <a:effectLst/>
                        </a:rPr>
                        <a:t>Non, subsiste même après la cession des droits patrimoniaux</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FR" sz="1200">
                          <a:effectLst/>
                        </a:rPr>
                        <a:t>Oui, en tout ou partie</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3339175"/>
                  </a:ext>
                </a:extLst>
              </a:tr>
              <a:tr h="3401555">
                <a:tc>
                  <a:txBody>
                    <a:bodyPr/>
                    <a:lstStyle/>
                    <a:p>
                      <a:pPr algn="ctr">
                        <a:lnSpc>
                          <a:spcPct val="107000"/>
                        </a:lnSpc>
                        <a:spcAft>
                          <a:spcPts val="0"/>
                        </a:spcAft>
                      </a:pPr>
                      <a:r>
                        <a:rPr lang="fr-FR" sz="1200">
                          <a:effectLst/>
                        </a:rPr>
                        <a:t> </a:t>
                      </a:r>
                    </a:p>
                    <a:p>
                      <a:pPr algn="ctr">
                        <a:lnSpc>
                          <a:spcPct val="107000"/>
                        </a:lnSpc>
                        <a:spcAft>
                          <a:spcPts val="0"/>
                        </a:spcAft>
                      </a:pPr>
                      <a:r>
                        <a:rPr lang="fr-FR" sz="1200">
                          <a:effectLst/>
                        </a:rPr>
                        <a:t> </a:t>
                      </a:r>
                    </a:p>
                    <a:p>
                      <a:pPr algn="ctr">
                        <a:lnSpc>
                          <a:spcPct val="107000"/>
                        </a:lnSpc>
                        <a:spcAft>
                          <a:spcPts val="0"/>
                        </a:spcAft>
                      </a:pPr>
                      <a:r>
                        <a:rPr lang="fr-FR" sz="1200">
                          <a:effectLst/>
                        </a:rPr>
                        <a:t> </a:t>
                      </a:r>
                    </a:p>
                    <a:p>
                      <a:pPr algn="ctr">
                        <a:lnSpc>
                          <a:spcPct val="107000"/>
                        </a:lnSpc>
                        <a:spcAft>
                          <a:spcPts val="0"/>
                        </a:spcAft>
                      </a:pPr>
                      <a:r>
                        <a:rPr lang="fr-FR" sz="1200">
                          <a:effectLst/>
                        </a:rPr>
                        <a:t> </a:t>
                      </a:r>
                    </a:p>
                    <a:p>
                      <a:pPr algn="ctr">
                        <a:lnSpc>
                          <a:spcPct val="107000"/>
                        </a:lnSpc>
                        <a:spcAft>
                          <a:spcPts val="0"/>
                        </a:spcAft>
                      </a:pPr>
                      <a:r>
                        <a:rPr lang="fr-FR" sz="1200">
                          <a:effectLst/>
                        </a:rPr>
                        <a:t> </a:t>
                      </a:r>
                    </a:p>
                    <a:p>
                      <a:pPr algn="ctr">
                        <a:lnSpc>
                          <a:spcPct val="107000"/>
                        </a:lnSpc>
                        <a:spcAft>
                          <a:spcPts val="0"/>
                        </a:spcAft>
                      </a:pPr>
                      <a:r>
                        <a:rPr lang="fr-FR" sz="1200">
                          <a:effectLst/>
                        </a:rPr>
                        <a:t> </a:t>
                      </a:r>
                    </a:p>
                    <a:p>
                      <a:pPr algn="ctr">
                        <a:lnSpc>
                          <a:spcPct val="107000"/>
                        </a:lnSpc>
                        <a:spcAft>
                          <a:spcPts val="0"/>
                        </a:spcAft>
                      </a:pPr>
                      <a:r>
                        <a:rPr lang="fr-FR" sz="1200">
                          <a:effectLst/>
                        </a:rPr>
                        <a:t> </a:t>
                      </a:r>
                    </a:p>
                    <a:p>
                      <a:pPr algn="ctr">
                        <a:lnSpc>
                          <a:spcPct val="107000"/>
                        </a:lnSpc>
                        <a:spcAft>
                          <a:spcPts val="0"/>
                        </a:spcAft>
                      </a:pPr>
                      <a:r>
                        <a:rPr lang="fr-FR" sz="1200">
                          <a:effectLst/>
                        </a:rPr>
                        <a:t> </a:t>
                      </a:r>
                    </a:p>
                    <a:p>
                      <a:pPr algn="ctr">
                        <a:lnSpc>
                          <a:spcPct val="107000"/>
                        </a:lnSpc>
                        <a:spcAft>
                          <a:spcPts val="0"/>
                        </a:spcAft>
                      </a:pPr>
                      <a:r>
                        <a:rPr lang="fr-FR" sz="1200">
                          <a:effectLst/>
                        </a:rPr>
                        <a:t>Il est composé de quoi ?</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FR" sz="1200">
                          <a:effectLst/>
                        </a:rPr>
                        <a:t>Droit à la paternité : Pour l’artiste-interprète principal, son nom doit être associé à son interprétation</a:t>
                      </a:r>
                    </a:p>
                    <a:p>
                      <a:pPr algn="just">
                        <a:lnSpc>
                          <a:spcPct val="107000"/>
                        </a:lnSpc>
                        <a:spcAft>
                          <a:spcPts val="0"/>
                        </a:spcAft>
                      </a:pPr>
                      <a:r>
                        <a:rPr lang="fr-FR" sz="1200">
                          <a:effectLst/>
                        </a:rPr>
                        <a:t> </a:t>
                      </a:r>
                    </a:p>
                    <a:p>
                      <a:pPr algn="just">
                        <a:lnSpc>
                          <a:spcPct val="107000"/>
                        </a:lnSpc>
                        <a:spcAft>
                          <a:spcPts val="0"/>
                        </a:spcAft>
                      </a:pPr>
                      <a:r>
                        <a:rPr lang="fr-FR" sz="1200">
                          <a:effectLst/>
                        </a:rPr>
                        <a:t>Droit au respect de l’interprétation : on ne peut pas modifier celle-ci sans son autorisation.</a:t>
                      </a:r>
                    </a:p>
                    <a:p>
                      <a:pPr algn="just">
                        <a:lnSpc>
                          <a:spcPct val="107000"/>
                        </a:lnSpc>
                        <a:spcAft>
                          <a:spcPts val="0"/>
                        </a:spcAft>
                      </a:pPr>
                      <a:r>
                        <a:rPr lang="fr-FR" sz="1200">
                          <a:effectLst/>
                        </a:rPr>
                        <a:t> </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fr-FR" sz="1200" dirty="0">
                          <a:effectLst/>
                        </a:rPr>
                        <a:t>Un droit de communication au public : L'artiste-interprète a le droit exclusif d’autoriser la communication de son interprétation au public</a:t>
                      </a:r>
                    </a:p>
                    <a:p>
                      <a:pPr>
                        <a:lnSpc>
                          <a:spcPct val="107000"/>
                        </a:lnSpc>
                        <a:spcAft>
                          <a:spcPts val="0"/>
                        </a:spcAft>
                      </a:pPr>
                      <a:r>
                        <a:rPr lang="fr-FR" sz="1200" dirty="0">
                          <a:effectLst/>
                        </a:rPr>
                        <a:t> </a:t>
                      </a:r>
                    </a:p>
                    <a:p>
                      <a:pPr>
                        <a:lnSpc>
                          <a:spcPct val="107000"/>
                        </a:lnSpc>
                        <a:spcAft>
                          <a:spcPts val="0"/>
                        </a:spcAft>
                      </a:pPr>
                      <a:r>
                        <a:rPr lang="fr-FR" sz="1200" dirty="0">
                          <a:effectLst/>
                        </a:rPr>
                        <a:t>Un droit de reproduction : L'artiste-interprète a le droit exclusif d’autoriser la fixation de son interprétation et la reproduction de cette fixation ;</a:t>
                      </a:r>
                    </a:p>
                    <a:p>
                      <a:pPr>
                        <a:lnSpc>
                          <a:spcPct val="107000"/>
                        </a:lnSpc>
                        <a:spcAft>
                          <a:spcPts val="0"/>
                        </a:spcAft>
                      </a:pPr>
                      <a:r>
                        <a:rPr lang="fr-FR" sz="1200" dirty="0">
                          <a:effectLst/>
                        </a:rPr>
                        <a:t> </a:t>
                      </a:r>
                    </a:p>
                    <a:p>
                      <a:pPr>
                        <a:lnSpc>
                          <a:spcPct val="107000"/>
                        </a:lnSpc>
                        <a:spcAft>
                          <a:spcPts val="0"/>
                        </a:spcAft>
                      </a:pPr>
                      <a:r>
                        <a:rPr lang="fr-FR" sz="1200" dirty="0">
                          <a:effectLst/>
                        </a:rPr>
                        <a:t>Un droit de distribution : par la vente ou autrement, des exemplaires matériels de son interprétation.</a:t>
                      </a:r>
                    </a:p>
                    <a:p>
                      <a:pPr>
                        <a:lnSpc>
                          <a:spcPct val="107000"/>
                        </a:lnSpc>
                        <a:spcAft>
                          <a:spcPts val="0"/>
                        </a:spcAft>
                      </a:pPr>
                      <a:r>
                        <a:rPr lang="fr-FR" sz="1200" dirty="0">
                          <a:effectLst/>
                        </a:rPr>
                        <a:t>Un droit de location : L'artiste-interprète a le droit exclusif de donner en location, des exemplaires de son interprétation. </a:t>
                      </a:r>
                      <a:endParaRPr lang="fr-F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48906705"/>
                  </a:ext>
                </a:extLst>
              </a:tr>
            </a:tbl>
          </a:graphicData>
        </a:graphic>
      </p:graphicFrame>
    </p:spTree>
    <p:extLst>
      <p:ext uri="{BB962C8B-B14F-4D97-AF65-F5344CB8AC3E}">
        <p14:creationId xmlns:p14="http://schemas.microsoft.com/office/powerpoint/2010/main" val="4064057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03CBDE-FB76-4A9B-B556-B328129EF892}"/>
              </a:ext>
            </a:extLst>
          </p:cNvPr>
          <p:cNvSpPr>
            <a:spLocks noGrp="1"/>
          </p:cNvSpPr>
          <p:nvPr>
            <p:ph type="title"/>
          </p:nvPr>
        </p:nvSpPr>
        <p:spPr>
          <a:xfrm>
            <a:off x="1912884" y="238801"/>
            <a:ext cx="8954814" cy="432318"/>
          </a:xfrm>
          <a:solidFill>
            <a:schemeClr val="accent5">
              <a:lumMod val="60000"/>
              <a:lumOff val="40000"/>
            </a:schemeClr>
          </a:solidFill>
          <a:ln>
            <a:solidFill>
              <a:schemeClr val="accent6"/>
            </a:solidFill>
          </a:ln>
        </p:spPr>
        <p:txBody>
          <a:bodyPr>
            <a:noAutofit/>
          </a:bodyPr>
          <a:lstStyle/>
          <a:p>
            <a:pPr algn="ctr"/>
            <a:r>
              <a:rPr lang="fr-FR" sz="1600" b="1" dirty="0">
                <a:solidFill>
                  <a:schemeClr val="accent5">
                    <a:lumMod val="50000"/>
                  </a:schemeClr>
                </a:solidFill>
              </a:rPr>
              <a:t>TITRE  3 : LA MISE EN ŒUVRE DES DROITS D’AUTEUR ET DROITS VOISINS </a:t>
            </a:r>
          </a:p>
        </p:txBody>
      </p:sp>
      <p:sp>
        <p:nvSpPr>
          <p:cNvPr id="3" name="Espace réservé du contenu 2">
            <a:extLst>
              <a:ext uri="{FF2B5EF4-FFF2-40B4-BE49-F238E27FC236}">
                <a16:creationId xmlns:a16="http://schemas.microsoft.com/office/drawing/2014/main" id="{C7259484-93DA-44F9-BC87-F3DE15250C0E}"/>
              </a:ext>
            </a:extLst>
          </p:cNvPr>
          <p:cNvSpPr>
            <a:spLocks noGrp="1"/>
          </p:cNvSpPr>
          <p:nvPr>
            <p:ph idx="1"/>
          </p:nvPr>
        </p:nvSpPr>
        <p:spPr>
          <a:xfrm>
            <a:off x="1329068" y="801636"/>
            <a:ext cx="10037319" cy="5154547"/>
          </a:xfrm>
          <a:solidFill>
            <a:schemeClr val="accent5">
              <a:lumMod val="20000"/>
              <a:lumOff val="80000"/>
            </a:schemeClr>
          </a:solidFill>
          <a:ln>
            <a:solidFill>
              <a:srgbClr val="7030A0"/>
            </a:solidFill>
          </a:ln>
        </p:spPr>
        <p:txBody>
          <a:bodyPr>
            <a:normAutofit/>
          </a:bodyPr>
          <a:lstStyle/>
          <a:p>
            <a:r>
              <a:rPr lang="fr-FR" dirty="0"/>
              <a:t>Il s’agit d’envisager l’exercice individuel des droits et la gestion collective.</a:t>
            </a:r>
          </a:p>
          <a:p>
            <a:r>
              <a:rPr lang="fr-FR" b="1" u="sng" dirty="0"/>
              <a:t>Chapitre 1 :</a:t>
            </a:r>
            <a:r>
              <a:rPr lang="fr-FR" b="1" dirty="0"/>
              <a:t> L’EXERCICE INDIVIDUEL DES DROITS </a:t>
            </a:r>
            <a:endParaRPr lang="fr-FR" dirty="0"/>
          </a:p>
          <a:p>
            <a:r>
              <a:rPr lang="fr-FR" dirty="0"/>
              <a:t>Les titulaires de droits jouissent de droits exclusifs. Ils peuvent décider dans certains cas dans la limite du possible de l’exercer directement. On parle ainsi d’exercice individuel des droits.</a:t>
            </a:r>
          </a:p>
          <a:p>
            <a:r>
              <a:rPr lang="fr-FR" dirty="0"/>
              <a:t>En principe, les titulaires de droits peuvent décider comment et par qui leurs œuvres peuvent être gérés. C’est en substance l’une des vocations du droit d’auteur. Les titulaires de droits ont intérêt à ce qu’un large public utilise leurs œuvres sous condition d’une rémunération conséquente.</a:t>
            </a:r>
          </a:p>
          <a:p>
            <a:r>
              <a:rPr lang="fr-FR" dirty="0"/>
              <a:t>Il faut signaler qu’ils existent des domaines de la création où l’exercice individuel peut se révéler très lucratif. Non seulement les titulaires droits arrivent à négocier au mieux de leurs intérêts, mais aussi ils parviennent à exercer un contrôle efficace sur l’utilisation de leurs œuvres. </a:t>
            </a:r>
          </a:p>
          <a:p>
            <a:endParaRPr lang="fr-FR" dirty="0"/>
          </a:p>
        </p:txBody>
      </p:sp>
    </p:spTree>
    <p:extLst>
      <p:ext uri="{BB962C8B-B14F-4D97-AF65-F5344CB8AC3E}">
        <p14:creationId xmlns:p14="http://schemas.microsoft.com/office/powerpoint/2010/main" val="1993424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82868" y="173151"/>
            <a:ext cx="10520855" cy="441389"/>
          </a:xfrm>
          <a:solidFill>
            <a:schemeClr val="bg2">
              <a:lumMod val="90000"/>
            </a:schemeClr>
          </a:solidFill>
          <a:ln>
            <a:solidFill>
              <a:schemeClr val="accent1">
                <a:lumMod val="50000"/>
              </a:schemeClr>
            </a:solidFill>
          </a:ln>
        </p:spPr>
        <p:txBody>
          <a:bodyPr>
            <a:normAutofit fontScale="90000"/>
          </a:bodyPr>
          <a:lstStyle/>
          <a:p>
            <a:pPr algn="ctr"/>
            <a:r>
              <a:rPr lang="fr-FR" sz="2200" dirty="0"/>
              <a:t>Chapitre 2 : LA GESTION COLLECTIVE DU DROIT D’AUTEUR ET DES DROITS VOISINS</a:t>
            </a:r>
            <a:br>
              <a:rPr lang="fr-FR" dirty="0"/>
            </a:br>
            <a:endParaRPr lang="fr-FR" dirty="0"/>
          </a:p>
        </p:txBody>
      </p:sp>
      <p:sp>
        <p:nvSpPr>
          <p:cNvPr id="3" name="Espace réservé du contenu 2"/>
          <p:cNvSpPr>
            <a:spLocks noGrp="1"/>
          </p:cNvSpPr>
          <p:nvPr>
            <p:ph idx="1"/>
          </p:nvPr>
        </p:nvSpPr>
        <p:spPr>
          <a:xfrm>
            <a:off x="294291" y="771787"/>
            <a:ext cx="11420046" cy="5209563"/>
          </a:xfrm>
          <a:solidFill>
            <a:schemeClr val="bg2">
              <a:lumMod val="75000"/>
            </a:schemeClr>
          </a:solidFill>
          <a:ln>
            <a:solidFill>
              <a:srgbClr val="7030A0"/>
            </a:solidFill>
          </a:ln>
        </p:spPr>
        <p:txBody>
          <a:bodyPr>
            <a:normAutofit/>
          </a:bodyPr>
          <a:lstStyle/>
          <a:p>
            <a:r>
              <a:rPr lang="fr-SN" dirty="0"/>
              <a:t>La gestion collective des droits est un moyen efficace pour mettre les œuvres à la disposition du public avec l’autorisation des titulaires des droits.</a:t>
            </a:r>
            <a:endParaRPr lang="fr-FR" dirty="0"/>
          </a:p>
          <a:p>
            <a:r>
              <a:rPr lang="fr-SN" dirty="0"/>
              <a:t>Dans le cadre d'un système de gestion collective, les titulaires de droits autorisent des organisations de gestion collective à gérer leurs droits,</a:t>
            </a:r>
            <a:r>
              <a:rPr lang="fr-SN" b="1" dirty="0"/>
              <a:t> </a:t>
            </a:r>
            <a:r>
              <a:rPr lang="fr-SN" dirty="0"/>
              <a:t>c'est-à-dire à surveiller l'utilisation de leurs œuvres, à négocier avec les utilisateurs éventuels, à leur accorder, moyennant paiement d'une redevance appropriée, des autorisations en les assortissant des conditions déterminées, à percevoir les redevances et à les répartir entre les titulaires de droits. </a:t>
            </a:r>
            <a:endParaRPr lang="fr-FR" dirty="0"/>
          </a:p>
          <a:p>
            <a:r>
              <a:rPr lang="fr-SN" dirty="0"/>
              <a:t>Le nombre et le statut des organismes de gestion collective peuvent varier selon les pays, les législations et la situation politique, économique, sociale et culturelle nationale. </a:t>
            </a:r>
            <a:endParaRPr lang="fr-FR" dirty="0"/>
          </a:p>
          <a:p>
            <a:r>
              <a:rPr lang="fr-FR" dirty="0"/>
              <a:t>Ce system a aussi le mérite d’être efficace et d’engendrer des couts de transactions financières réduits.</a:t>
            </a:r>
          </a:p>
          <a:p>
            <a:r>
              <a:rPr lang="fr-SN" dirty="0"/>
              <a:t>La gestion collective du droit d’auteur est généralement utilisée pour faciliter l’exercice effectif de ces droits par les auteurs eux-mêmes et favoriser l’exploitation licite des œuvres et prestations culturelles. </a:t>
            </a:r>
            <a:endParaRPr lang="fr-FR" dirty="0"/>
          </a:p>
        </p:txBody>
      </p:sp>
    </p:spTree>
    <p:extLst>
      <p:ext uri="{BB962C8B-B14F-4D97-AF65-F5344CB8AC3E}">
        <p14:creationId xmlns:p14="http://schemas.microsoft.com/office/powerpoint/2010/main" val="26611399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AE8C5571-513B-4956-942B-3A1298952DA7}"/>
              </a:ext>
            </a:extLst>
          </p:cNvPr>
          <p:cNvSpPr txBox="1"/>
          <p:nvPr/>
        </p:nvSpPr>
        <p:spPr>
          <a:xfrm>
            <a:off x="1576552" y="1318534"/>
            <a:ext cx="9154510" cy="3046988"/>
          </a:xfrm>
          <a:prstGeom prst="rect">
            <a:avLst/>
          </a:prstGeom>
          <a:ln/>
          <a:effectLst>
            <a:glow rad="228600">
              <a:schemeClr val="accent6">
                <a:satMod val="175000"/>
                <a:alpha val="40000"/>
              </a:schemeClr>
            </a:glow>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fr-FR" sz="9600" b="1" dirty="0">
                <a:solidFill>
                  <a:schemeClr val="accent5">
                    <a:lumMod val="50000"/>
                  </a:schemeClr>
                </a:solidFill>
                <a:latin typeface="Freestyle Script" panose="030804020302050B0404" pitchFamily="66" charset="0"/>
              </a:rPr>
              <a:t>MERCI DE VOTRE ATTENTION</a:t>
            </a:r>
            <a:r>
              <a:rPr lang="fr-FR" sz="2000" dirty="0">
                <a:solidFill>
                  <a:schemeClr val="accent5">
                    <a:lumMod val="50000"/>
                  </a:schemeClr>
                </a:solidFill>
              </a:rPr>
              <a:t> </a:t>
            </a:r>
          </a:p>
        </p:txBody>
      </p:sp>
    </p:spTree>
    <p:extLst>
      <p:ext uri="{BB962C8B-B14F-4D97-AF65-F5344CB8AC3E}">
        <p14:creationId xmlns:p14="http://schemas.microsoft.com/office/powerpoint/2010/main" val="31970234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theme/theme1.xml><?xml version="1.0" encoding="utf-8"?>
<a:theme xmlns:a="http://schemas.openxmlformats.org/drawingml/2006/main" name="Galerie">
  <a:themeElements>
    <a:clrScheme name="Galerie">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ie">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ie">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Thème Offic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8CDDBB83-77C1-4099-A0AA-289882E745E2}">
  <ds:schemaRefs>
    <ds:schemaRef ds:uri="http://schemas.microsoft.com/office/2006/metadata/properties"/>
    <ds:schemaRef ds:uri="http://schemas.microsoft.com/office/2006/documentManagement/types"/>
    <ds:schemaRef ds:uri="http://purl.org/dc/elements/1.1/"/>
    <ds:schemaRef ds:uri="http://purl.org/dc/dcmitype/"/>
    <ds:schemaRef ds:uri="http://schemas.openxmlformats.org/package/2006/metadata/core-properties"/>
    <ds:schemaRef ds:uri="http://schemas.microsoft.com/office/infopath/2007/PartnerControls"/>
    <ds:schemaRef ds:uri="4873beb7-5857-4685-be1f-d57550cc96cc"/>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Gallery</Template>
  <TotalTime>0</TotalTime>
  <Words>1748</Words>
  <Application>Microsoft Office PowerPoint</Application>
  <PresentationFormat>Grand écran</PresentationFormat>
  <Paragraphs>126</Paragraphs>
  <Slides>13</Slides>
  <Notes>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13</vt:i4>
      </vt:variant>
    </vt:vector>
  </HeadingPairs>
  <TitlesOfParts>
    <vt:vector size="21" baseType="lpstr">
      <vt:lpstr>Arial</vt:lpstr>
      <vt:lpstr>Arial Black</vt:lpstr>
      <vt:lpstr>Calibri</vt:lpstr>
      <vt:lpstr>Euphemia</vt:lpstr>
      <vt:lpstr>Freestyle Script</vt:lpstr>
      <vt:lpstr>Georgia</vt:lpstr>
      <vt:lpstr>Gill Sans MT</vt:lpstr>
      <vt:lpstr>Galerie</vt:lpstr>
      <vt:lpstr>    le droit d’auteur et les droits voisins      </vt:lpstr>
      <vt:lpstr>     PLAN DU COURS </vt:lpstr>
      <vt:lpstr>TITRE 1 : LE DROIT D’AUTEUR</vt:lpstr>
      <vt:lpstr>Chapitre 1 : LES GRANDS PRINCIPES DU DROIT D’AUTEUR   </vt:lpstr>
      <vt:lpstr>Chapitre 2 : LES COMPOSANTES ET CARACTERES DU DA</vt:lpstr>
      <vt:lpstr>Récapitulatif des composantes</vt:lpstr>
      <vt:lpstr>TITRE 2 : LES DROITS VOISINS OU DROITS CONNEXES</vt:lpstr>
      <vt:lpstr> Chapitre 1 LES GRANDS PRINCIPES DES DROITS VOISINS </vt:lpstr>
      <vt:lpstr>Présentation PowerPoint</vt:lpstr>
      <vt:lpstr>RECAPITULATIF DES DROITS VOISINS</vt:lpstr>
      <vt:lpstr>TITRE  3 : LA MISE EN ŒUVRE DES DROITS D’AUTEUR ET DROITS VOISINS </vt:lpstr>
      <vt:lpstr>Chapitre 2 : LA GESTION COLLECTIVE DU DROIT D’AUTEUR ET DES DROITS VOISINS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2018-10-10T15:31:46Z</dcterms:created>
  <dcterms:modified xsi:type="dcterms:W3CDTF">2026-04-17T17:48:51Z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